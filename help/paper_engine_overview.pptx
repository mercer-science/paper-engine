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sell Mercer" userId="1bee7643-5b3c-4970-8157-e603ad24988b" providerId="ADAL" clId="{10BC3528-7E38-4BA8-933D-BA9501945816}"/>
    <pc:docChg chg="custSel modSld">
      <pc:chgData name="Russell Mercer" userId="1bee7643-5b3c-4970-8157-e603ad24988b" providerId="ADAL" clId="{10BC3528-7E38-4BA8-933D-BA9501945816}" dt="2026-09-09T03:44:28.627" v="1" actId="478"/>
      <pc:docMkLst>
        <pc:docMk/>
      </pc:docMkLst>
      <pc:sldChg chg="delSp modSp mod">
        <pc:chgData name="Russell Mercer" userId="1bee7643-5b3c-4970-8157-e603ad24988b" providerId="ADAL" clId="{10BC3528-7E38-4BA8-933D-BA9501945816}" dt="2026-09-09T03:44:28.627" v="1" actId="478"/>
        <pc:sldMkLst>
          <pc:docMk/>
          <pc:sldMk cId="0" sldId="256"/>
        </pc:sldMkLst>
        <pc:spChg chg="del mod">
          <ac:chgData name="Russell Mercer" userId="1bee7643-5b3c-4970-8157-e603ad24988b" providerId="ADAL" clId="{10BC3528-7E38-4BA8-933D-BA9501945816}" dt="2026-09-09T03:44:28.627" v="1" actId="478"/>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737360"/>
            <a:ext cx="10515600" cy="914400"/>
          </a:xfrm>
          <a:prstGeom prst="rect">
            <a:avLst/>
          </a:prstGeom>
          <a:noFill/>
        </p:spPr>
        <p:txBody>
          <a:bodyPr wrap="square" lIns="73152" rIns="73152">
            <a:spAutoFit/>
          </a:bodyPr>
          <a:lstStyle/>
          <a:p>
            <a:pPr algn="l">
              <a:spcAft>
                <a:spcPts val="200"/>
              </a:spcAft>
            </a:pPr>
            <a:r>
              <a:rPr sz="4600" b="1">
                <a:solidFill>
                  <a:srgbClr val="1A1A1A"/>
                </a:solidFill>
                <a:latin typeface="Segoe UI"/>
              </a:rPr>
              <a:t>Paper Engine</a:t>
            </a:r>
          </a:p>
        </p:txBody>
      </p:sp>
      <p:sp>
        <p:nvSpPr>
          <p:cNvPr id="4" name="Rectangle 3"/>
          <p:cNvSpPr/>
          <p:nvPr/>
        </p:nvSpPr>
        <p:spPr>
          <a:xfrm>
            <a:off x="868680" y="3246120"/>
            <a:ext cx="548640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68680" y="3611880"/>
            <a:ext cx="2514600" cy="1051560"/>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300" b="1">
                <a:solidFill>
                  <a:srgbClr val="1A1A1A"/>
                </a:solidFill>
                <a:latin typeface="Segoe UI"/>
              </a:rPr>
              <a:t>Idea Generation</a:t>
            </a:r>
          </a:p>
          <a:p>
            <a:pPr algn="ctr">
              <a:spcAft>
                <a:spcPts val="200"/>
              </a:spcAft>
            </a:pPr>
            <a:r>
              <a:rPr sz="900" b="0">
                <a:solidFill>
                  <a:srgbClr val="5B6570"/>
                </a:solidFill>
                <a:latin typeface="Segoe UI"/>
              </a:rPr>
              <a:t>Before There Is Any Data</a:t>
            </a:r>
          </a:p>
        </p:txBody>
      </p:sp>
      <p:sp>
        <p:nvSpPr>
          <p:cNvPr id="6" name="Rounded Rectangle 5"/>
          <p:cNvSpPr/>
          <p:nvPr/>
        </p:nvSpPr>
        <p:spPr>
          <a:xfrm>
            <a:off x="3611880" y="3611880"/>
            <a:ext cx="2514600" cy="1051560"/>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300" b="1">
                <a:solidFill>
                  <a:srgbClr val="1A1A1A"/>
                </a:solidFill>
                <a:latin typeface="Segoe UI"/>
              </a:rPr>
              <a:t>Research Work</a:t>
            </a:r>
          </a:p>
          <a:p>
            <a:pPr algn="ctr">
              <a:spcAft>
                <a:spcPts val="200"/>
              </a:spcAft>
            </a:pPr>
            <a:r>
              <a:rPr sz="900" b="0">
                <a:solidFill>
                  <a:srgbClr val="5B6570"/>
                </a:solidFill>
                <a:latin typeface="Segoe UI"/>
              </a:rPr>
              <a:t>They Stay Out Of The Bench Work</a:t>
            </a:r>
          </a:p>
        </p:txBody>
      </p:sp>
      <p:sp>
        <p:nvSpPr>
          <p:cNvPr id="7" name="Rounded Rectangle 6"/>
          <p:cNvSpPr/>
          <p:nvPr/>
        </p:nvSpPr>
        <p:spPr>
          <a:xfrm>
            <a:off x="6355080" y="3611880"/>
            <a:ext cx="2514600" cy="1051560"/>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300" b="1">
                <a:solidFill>
                  <a:srgbClr val="1A1A1A"/>
                </a:solidFill>
                <a:latin typeface="Segoe UI"/>
              </a:rPr>
              <a:t>The Writing Engine</a:t>
            </a:r>
          </a:p>
          <a:p>
            <a:pPr algn="ctr">
              <a:spcAft>
                <a:spcPts val="200"/>
              </a:spcAft>
            </a:pPr>
            <a:r>
              <a:rPr sz="900" b="0">
                <a:solidFill>
                  <a:srgbClr val="5B6570"/>
                </a:solidFill>
                <a:latin typeface="Segoe UI"/>
              </a:rPr>
              <a:t>Iterative, And It Learns From You</a:t>
            </a:r>
          </a:p>
        </p:txBody>
      </p:sp>
      <p:sp>
        <p:nvSpPr>
          <p:cNvPr id="8" name="Rounded Rectangle 7"/>
          <p:cNvSpPr/>
          <p:nvPr/>
        </p:nvSpPr>
        <p:spPr>
          <a:xfrm>
            <a:off x="9098280" y="3611880"/>
            <a:ext cx="2514600" cy="1051560"/>
          </a:xfrm>
          <a:prstGeom prst="roundRect">
            <a:avLst>
              <a:gd name="adj" fmla="val 6000"/>
            </a:avLst>
          </a:prstGeom>
          <a:solidFill>
            <a:srgbClr val="FCF0E4"/>
          </a:solidFill>
          <a:ln w="12700">
            <a:solidFill>
              <a:srgbClr val="A9601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300" b="1">
                <a:solidFill>
                  <a:srgbClr val="1A1A1A"/>
                </a:solidFill>
                <a:latin typeface="Segoe UI"/>
              </a:rPr>
              <a:t>Submission</a:t>
            </a:r>
          </a:p>
          <a:p>
            <a:pPr algn="ctr">
              <a:spcAft>
                <a:spcPts val="200"/>
              </a:spcAft>
            </a:pPr>
            <a:r>
              <a:rPr sz="900" b="0">
                <a:solidFill>
                  <a:srgbClr val="5B6570"/>
                </a:solidFill>
                <a:latin typeface="Segoe UI"/>
              </a:rPr>
              <a:t>Everything That Is Not The Manuscript</a:t>
            </a:r>
          </a:p>
        </p:txBody>
      </p:sp>
      <p:sp>
        <p:nvSpPr>
          <p:cNvPr id="9" name="TextBox 8"/>
          <p:cNvSpPr txBox="1"/>
          <p:nvPr/>
        </p:nvSpPr>
        <p:spPr>
          <a:xfrm>
            <a:off x="868680" y="4983480"/>
            <a:ext cx="10515600" cy="822960"/>
          </a:xfrm>
          <a:prstGeom prst="rect">
            <a:avLst/>
          </a:prstGeom>
          <a:noFill/>
        </p:spPr>
        <p:txBody>
          <a:bodyPr wrap="square" lIns="73152" rIns="73152">
            <a:spAutoFit/>
          </a:bodyPr>
          <a:lstStyle/>
          <a:p>
            <a:pPr algn="l">
              <a:spcAft>
                <a:spcPts val="200"/>
              </a:spcAft>
            </a:pPr>
            <a:r>
              <a:rPr sz="1100" b="0" dirty="0">
                <a:solidFill>
                  <a:srgbClr val="5B6570"/>
                </a:solidFill>
                <a:latin typeface="Segoe UI"/>
              </a:rPr>
              <a:t>Four stages, and the order is a default rather than a rule - you can arrive at any of them.</a:t>
            </a:r>
          </a:p>
          <a:p>
            <a:pPr algn="l">
              <a:spcAft>
                <a:spcPts val="200"/>
              </a:spcAft>
            </a:pPr>
            <a:r>
              <a:rPr sz="1100" b="0" dirty="0">
                <a:solidFill>
                  <a:srgbClr val="5B6570"/>
                </a:solidFill>
                <a:latin typeface="Segoe UI"/>
              </a:rPr>
              <a:t>Nothing here writes anything without showing you first.</a:t>
            </a:r>
          </a:p>
        </p:txBody>
      </p:sp>
      <p:sp>
        <p:nvSpPr>
          <p:cNvPr id="10" name="TextBox 9"/>
          <p:cNvSpPr txBox="1"/>
          <p:nvPr/>
        </p:nvSpPr>
        <p:spPr>
          <a:xfrm>
            <a:off x="502920" y="6419088"/>
            <a:ext cx="11155680" cy="274320"/>
          </a:xfrm>
          <a:prstGeom prst="rect">
            <a:avLst/>
          </a:prstGeom>
          <a:noFill/>
        </p:spPr>
        <p:txBody>
          <a:bodyPr wrap="square" lIns="73152" rIns="73152">
            <a:spAutoFit/>
          </a:bodyPr>
          <a:lstStyle/>
          <a:p>
            <a:pPr algn="l">
              <a:spcAft>
                <a:spcPts val="200"/>
              </a:spcAft>
            </a:pPr>
            <a:r>
              <a:rPr sz="900" b="0">
                <a:solidFill>
                  <a:srgbClr val="5B6570"/>
                </a:solidFill>
                <a:latin typeface="Segoe UI"/>
              </a:rPr>
              <a:t>specs/orchestration.md  |  help/instructions.md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The Whole Flow</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One block per stage; the arrows are hand-offs. Two more arrows go backwards, and they are drawn on the writing-engine slide.</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325880"/>
            <a:ext cx="3200400" cy="1170432"/>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300" b="1">
                <a:solidFill>
                  <a:srgbClr val="1A1A1A"/>
                </a:solidFill>
                <a:latin typeface="Segoe UI"/>
              </a:rPr>
              <a:t>Stage A  -  Idea Generation</a:t>
            </a:r>
          </a:p>
          <a:p>
            <a:pPr algn="l">
              <a:spcAft>
                <a:spcPts val="200"/>
              </a:spcAft>
            </a:pPr>
            <a:r>
              <a:rPr sz="900" b="0">
                <a:solidFill>
                  <a:srgbClr val="5B6570"/>
                </a:solidFill>
                <a:latin typeface="Segoe UI"/>
              </a:rPr>
              <a:t>Before There Is Any Data</a:t>
            </a:r>
          </a:p>
        </p:txBody>
      </p:sp>
      <p:sp>
        <p:nvSpPr>
          <p:cNvPr id="6" name="Rounded Rectangle 5"/>
          <p:cNvSpPr/>
          <p:nvPr/>
        </p:nvSpPr>
        <p:spPr>
          <a:xfrm>
            <a:off x="3977639" y="1325880"/>
            <a:ext cx="3977639" cy="1170432"/>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idea-generation</a:t>
            </a:r>
          </a:p>
          <a:p>
            <a:pPr algn="l">
              <a:spcAft>
                <a:spcPts val="200"/>
              </a:spcAft>
            </a:pPr>
            <a:r>
              <a:rPr sz="1000" b="1">
                <a:solidFill>
                  <a:srgbClr val="1A1A1A"/>
                </a:solidFill>
                <a:latin typeface="Segoe UI"/>
              </a:rPr>
              <a:t>setup-project-directory</a:t>
            </a:r>
          </a:p>
        </p:txBody>
      </p:sp>
      <p:sp>
        <p:nvSpPr>
          <p:cNvPr id="7" name="Rounded Rectangle 6"/>
          <p:cNvSpPr/>
          <p:nvPr/>
        </p:nvSpPr>
        <p:spPr>
          <a:xfrm>
            <a:off x="8229600" y="1325880"/>
            <a:ext cx="3429000" cy="117043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800" b="1">
                <a:solidFill>
                  <a:srgbClr val="5B6570"/>
                </a:solidFill>
                <a:latin typeface="Segoe UI"/>
              </a:rPr>
              <a:t>Engines</a:t>
            </a:r>
          </a:p>
          <a:p>
            <a:pPr algn="l">
              <a:spcAft>
                <a:spcPts val="200"/>
              </a:spcAft>
            </a:pPr>
            <a:r>
              <a:rPr sz="900" b="0">
                <a:solidFill>
                  <a:srgbClr val="1A1A1A"/>
                </a:solidFill>
                <a:latin typeface="Segoe UI"/>
              </a:rPr>
              <a:t>scholar.py  pubmed.py  structure.py  idea.py  scaffold.py</a:t>
            </a:r>
          </a:p>
        </p:txBody>
      </p:sp>
      <p:sp>
        <p:nvSpPr>
          <p:cNvPr id="8" name="Down Arrow 7"/>
          <p:cNvSpPr/>
          <p:nvPr/>
        </p:nvSpPr>
        <p:spPr>
          <a:xfrm>
            <a:off x="1993392" y="2505456"/>
            <a:ext cx="182880" cy="137160"/>
          </a:xfrm>
          <a:prstGeom prst="downArrow">
            <a:avLst/>
          </a:prstGeom>
          <a:solidFill>
            <a:srgbClr val="2E5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2624328"/>
            <a:ext cx="3200400" cy="1170432"/>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300" b="1">
                <a:solidFill>
                  <a:srgbClr val="1A1A1A"/>
                </a:solidFill>
                <a:latin typeface="Segoe UI"/>
              </a:rPr>
              <a:t>Stage B  -  Research Work</a:t>
            </a:r>
          </a:p>
          <a:p>
            <a:pPr algn="l">
              <a:spcAft>
                <a:spcPts val="200"/>
              </a:spcAft>
            </a:pPr>
            <a:r>
              <a:rPr sz="900" b="0">
                <a:solidFill>
                  <a:srgbClr val="5B6570"/>
                </a:solidFill>
                <a:latin typeface="Segoe UI"/>
              </a:rPr>
              <a:t>They Stay Out Of The Bench Work</a:t>
            </a:r>
          </a:p>
        </p:txBody>
      </p:sp>
      <p:sp>
        <p:nvSpPr>
          <p:cNvPr id="10" name="Rounded Rectangle 9"/>
          <p:cNvSpPr/>
          <p:nvPr/>
        </p:nvSpPr>
        <p:spPr>
          <a:xfrm>
            <a:off x="3977639" y="2624328"/>
            <a:ext cx="3977639" cy="1170432"/>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analysis</a:t>
            </a:r>
          </a:p>
          <a:p>
            <a:pPr algn="l">
              <a:spcAft>
                <a:spcPts val="200"/>
              </a:spcAft>
            </a:pPr>
            <a:r>
              <a:rPr sz="1000" b="1">
                <a:solidFill>
                  <a:srgbClr val="1A1A1A"/>
                </a:solidFill>
                <a:latin typeface="Segoe UI"/>
              </a:rPr>
              <a:t>create-graphic-figure</a:t>
            </a:r>
          </a:p>
          <a:p>
            <a:pPr algn="l">
              <a:spcAft>
                <a:spcPts val="200"/>
              </a:spcAft>
            </a:pPr>
            <a:r>
              <a:rPr sz="1000" b="1">
                <a:solidFill>
                  <a:srgbClr val="1A1A1A"/>
                </a:solidFill>
                <a:latin typeface="Segoe UI"/>
              </a:rPr>
              <a:t>refine-figure</a:t>
            </a:r>
          </a:p>
        </p:txBody>
      </p:sp>
      <p:sp>
        <p:nvSpPr>
          <p:cNvPr id="11" name="Rounded Rectangle 10"/>
          <p:cNvSpPr/>
          <p:nvPr/>
        </p:nvSpPr>
        <p:spPr>
          <a:xfrm>
            <a:off x="8229600" y="2624328"/>
            <a:ext cx="3429000" cy="117043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800" b="1">
                <a:solidFill>
                  <a:srgbClr val="5B6570"/>
                </a:solidFill>
                <a:latin typeface="Segoe UI"/>
              </a:rPr>
              <a:t>Engines</a:t>
            </a:r>
          </a:p>
          <a:p>
            <a:pPr algn="l">
              <a:spcAft>
                <a:spcPts val="200"/>
              </a:spcAft>
            </a:pPr>
            <a:r>
              <a:rPr sz="900" b="0">
                <a:solidFill>
                  <a:srgbClr val="1A1A1A"/>
                </a:solidFill>
                <a:latin typeface="Segoe UI"/>
              </a:rPr>
              <a:t>graphic_figure.py  scaffold.py float lint  R pipeline</a:t>
            </a:r>
          </a:p>
        </p:txBody>
      </p:sp>
      <p:sp>
        <p:nvSpPr>
          <p:cNvPr id="12" name="Down Arrow 11"/>
          <p:cNvSpPr/>
          <p:nvPr/>
        </p:nvSpPr>
        <p:spPr>
          <a:xfrm>
            <a:off x="1993392" y="3803904"/>
            <a:ext cx="182880" cy="137160"/>
          </a:xfrm>
          <a:prstGeom prst="downArrow">
            <a:avLst/>
          </a:prstGeom>
          <a:solidFill>
            <a:srgbClr val="3D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3922776"/>
            <a:ext cx="3200400" cy="1170432"/>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300" b="1">
                <a:solidFill>
                  <a:srgbClr val="1A1A1A"/>
                </a:solidFill>
                <a:latin typeface="Segoe UI"/>
              </a:rPr>
              <a:t>Stage C  -  The Writing Engine</a:t>
            </a:r>
          </a:p>
          <a:p>
            <a:pPr algn="l">
              <a:spcAft>
                <a:spcPts val="200"/>
              </a:spcAft>
            </a:pPr>
            <a:r>
              <a:rPr sz="900" b="0">
                <a:solidFill>
                  <a:srgbClr val="5B6570"/>
                </a:solidFill>
                <a:latin typeface="Segoe UI"/>
              </a:rPr>
              <a:t>Iterative, And It Learns From You</a:t>
            </a:r>
          </a:p>
        </p:txBody>
      </p:sp>
      <p:sp>
        <p:nvSpPr>
          <p:cNvPr id="14" name="Rounded Rectangle 13"/>
          <p:cNvSpPr/>
          <p:nvPr/>
        </p:nvSpPr>
        <p:spPr>
          <a:xfrm>
            <a:off x="3977639" y="3922776"/>
            <a:ext cx="3977639" cy="1170432"/>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writing-engine</a:t>
            </a:r>
          </a:p>
        </p:txBody>
      </p:sp>
      <p:sp>
        <p:nvSpPr>
          <p:cNvPr id="15" name="Rounded Rectangle 14"/>
          <p:cNvSpPr/>
          <p:nvPr/>
        </p:nvSpPr>
        <p:spPr>
          <a:xfrm>
            <a:off x="8229600" y="3922776"/>
            <a:ext cx="3429000" cy="117043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800" b="1">
                <a:solidFill>
                  <a:srgbClr val="5B6570"/>
                </a:solidFill>
                <a:latin typeface="Segoe UI"/>
              </a:rPr>
              <a:t>Engines</a:t>
            </a:r>
          </a:p>
          <a:p>
            <a:pPr algn="l">
              <a:spcAft>
                <a:spcPts val="200"/>
              </a:spcAft>
            </a:pPr>
            <a:r>
              <a:rPr sz="900" b="0">
                <a:solidFill>
                  <a:srgbClr val="1A1A1A"/>
                </a:solidFill>
                <a:latin typeface="Segoe UI"/>
              </a:rPr>
              <a:t>manuscript.py  prose.py  learn.py  docx_edits.py</a:t>
            </a:r>
          </a:p>
        </p:txBody>
      </p:sp>
      <p:sp>
        <p:nvSpPr>
          <p:cNvPr id="16" name="Down Arrow 15"/>
          <p:cNvSpPr/>
          <p:nvPr/>
        </p:nvSpPr>
        <p:spPr>
          <a:xfrm>
            <a:off x="1993392" y="5102352"/>
            <a:ext cx="182880" cy="137160"/>
          </a:xfrm>
          <a:prstGeom prst="down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2920" y="5221224"/>
            <a:ext cx="3200400" cy="1170432"/>
          </a:xfrm>
          <a:prstGeom prst="roundRect">
            <a:avLst>
              <a:gd name="adj" fmla="val 6000"/>
            </a:avLst>
          </a:prstGeom>
          <a:solidFill>
            <a:srgbClr val="FCF0E4"/>
          </a:solidFill>
          <a:ln w="12700">
            <a:solidFill>
              <a:srgbClr val="A9601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300" b="1">
                <a:solidFill>
                  <a:srgbClr val="1A1A1A"/>
                </a:solidFill>
                <a:latin typeface="Segoe UI"/>
              </a:rPr>
              <a:t>Stage D  -  Submission</a:t>
            </a:r>
          </a:p>
          <a:p>
            <a:pPr algn="l">
              <a:spcAft>
                <a:spcPts val="200"/>
              </a:spcAft>
            </a:pPr>
            <a:r>
              <a:rPr sz="900" b="0">
                <a:solidFill>
                  <a:srgbClr val="5B6570"/>
                </a:solidFill>
                <a:latin typeface="Segoe UI"/>
              </a:rPr>
              <a:t>Everything That Is Not The Manuscript</a:t>
            </a:r>
          </a:p>
        </p:txBody>
      </p:sp>
      <p:sp>
        <p:nvSpPr>
          <p:cNvPr id="18" name="Rounded Rectangle 17"/>
          <p:cNvSpPr/>
          <p:nvPr/>
        </p:nvSpPr>
        <p:spPr>
          <a:xfrm>
            <a:off x="3977639" y="5221224"/>
            <a:ext cx="3977639" cy="1170432"/>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submission-package</a:t>
            </a:r>
          </a:p>
          <a:p>
            <a:pPr algn="l">
              <a:spcAft>
                <a:spcPts val="200"/>
              </a:spcAft>
            </a:pPr>
            <a:r>
              <a:rPr sz="1000" b="1">
                <a:solidFill>
                  <a:srgbClr val="1A1A1A"/>
                </a:solidFill>
                <a:latin typeface="Segoe UI"/>
              </a:rPr>
              <a:t>toc-graphic</a:t>
            </a:r>
          </a:p>
          <a:p>
            <a:pPr algn="l">
              <a:spcAft>
                <a:spcPts val="200"/>
              </a:spcAft>
            </a:pPr>
            <a:r>
              <a:rPr sz="1000" b="1">
                <a:solidFill>
                  <a:srgbClr val="1A1A1A"/>
                </a:solidFill>
                <a:latin typeface="Segoe UI"/>
              </a:rPr>
              <a:t>respond-to-reviewers</a:t>
            </a:r>
          </a:p>
          <a:p>
            <a:pPr algn="l">
              <a:spcAft>
                <a:spcPts val="200"/>
              </a:spcAft>
            </a:pPr>
            <a:r>
              <a:rPr sz="1000" b="1">
                <a:solidFill>
                  <a:srgbClr val="1A1A1A"/>
                </a:solidFill>
                <a:latin typeface="Segoe UI"/>
              </a:rPr>
              <a:t>ai-disclosure</a:t>
            </a:r>
          </a:p>
        </p:txBody>
      </p:sp>
      <p:sp>
        <p:nvSpPr>
          <p:cNvPr id="19" name="Rounded Rectangle 18"/>
          <p:cNvSpPr/>
          <p:nvPr/>
        </p:nvSpPr>
        <p:spPr>
          <a:xfrm>
            <a:off x="8229600" y="5221224"/>
            <a:ext cx="3429000" cy="117043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800" b="1">
                <a:solidFill>
                  <a:srgbClr val="5B6570"/>
                </a:solidFill>
                <a:latin typeface="Segoe UI"/>
              </a:rPr>
              <a:t>Engines</a:t>
            </a:r>
          </a:p>
          <a:p>
            <a:pPr algn="l">
              <a:spcAft>
                <a:spcPts val="200"/>
              </a:spcAft>
            </a:pPr>
            <a:r>
              <a:rPr sz="900" b="0">
                <a:solidFill>
                  <a:srgbClr val="1A1A1A"/>
                </a:solidFill>
                <a:latin typeface="Segoe UI"/>
              </a:rPr>
              <a:t>manuscript.py  toc_graphic.py</a:t>
            </a:r>
          </a:p>
        </p:txBody>
      </p:sp>
      <p:sp>
        <p:nvSpPr>
          <p:cNvPr id="20" name="Rounded Rectangle 19"/>
          <p:cNvSpPr/>
          <p:nvPr/>
        </p:nvSpPr>
        <p:spPr>
          <a:xfrm>
            <a:off x="3977639" y="6419088"/>
            <a:ext cx="7680960" cy="384048"/>
          </a:xfrm>
          <a:prstGeom prst="roundRect">
            <a:avLst>
              <a:gd name="adj" fmla="val 6000"/>
            </a:avLst>
          </a:prstGeom>
          <a:solidFill>
            <a:srgbClr val="FFFFFF"/>
          </a:solidFill>
          <a:ln w="12700">
            <a:solidFill>
              <a:srgbClr val="B3341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Two arrows go back: your edits become drafting rules (learn.py), and the engine's own defects go upstream (report.py).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Idea Generation</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Five steps, in the order the engine actually runs them - ending in a folder that already renders</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98448"/>
            <a:ext cx="5623560" cy="868680"/>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1.  Research Articles</a:t>
            </a:r>
          </a:p>
          <a:p>
            <a:pPr algn="l">
              <a:spcAft>
                <a:spcPts val="200"/>
              </a:spcAft>
            </a:pPr>
            <a:r>
              <a:rPr sz="800" b="0">
                <a:solidFill>
                  <a:srgbClr val="1A1A1A"/>
                </a:solidFill>
                <a:latin typeface="Segoe UI"/>
              </a:rPr>
              <a:t>scholar.py, six indexes - never PubMed alone. 3-8 papers land in plan/relevant_literature/ with a summary each. Every citation is verified before it reaches a file; none of them come from memory.</a:t>
            </a:r>
          </a:p>
        </p:txBody>
      </p:sp>
      <p:sp>
        <p:nvSpPr>
          <p:cNvPr id="6" name="Down Arrow 5"/>
          <p:cNvSpPr/>
          <p:nvPr/>
        </p:nvSpPr>
        <p:spPr>
          <a:xfrm>
            <a:off x="3200400" y="2185415"/>
            <a:ext cx="219456" cy="146304"/>
          </a:xfrm>
          <a:prstGeom prst="downArrow">
            <a:avLst/>
          </a:prstGeom>
          <a:solidFill>
            <a:srgbClr val="2E5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2331720"/>
            <a:ext cx="5623560" cy="868680"/>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2.  Idea Discussion</a:t>
            </a:r>
          </a:p>
          <a:p>
            <a:pPr algn="l">
              <a:spcAft>
                <a:spcPts val="200"/>
              </a:spcAft>
            </a:pPr>
            <a:r>
              <a:rPr sz="800" b="0">
                <a:solidFill>
                  <a:srgbClr val="1A1A1A"/>
                </a:solidFill>
                <a:latin typeface="Segoe UI"/>
              </a:rPr>
              <a:t>six staged rounds: what you want to write about -&gt; the sweep -&gt; 2-4 questions asked AFTER the sweep -&gt; 3-5 candidate gaps with their papers -&gt; feasibility, where “idk” is a real answer -&gt; 2-3 ways to write it, and the float set.</a:t>
            </a:r>
          </a:p>
        </p:txBody>
      </p:sp>
      <p:sp>
        <p:nvSpPr>
          <p:cNvPr id="8" name="Down Arrow 7"/>
          <p:cNvSpPr/>
          <p:nvPr/>
        </p:nvSpPr>
        <p:spPr>
          <a:xfrm>
            <a:off x="3200400" y="3218687"/>
            <a:ext cx="219456" cy="146304"/>
          </a:xfrm>
          <a:prstGeom prst="downArrow">
            <a:avLst/>
          </a:prstGeom>
          <a:solidFill>
            <a:srgbClr val="2E5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3364991"/>
            <a:ext cx="5623560" cy="868680"/>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3.  Project Directory Set Up</a:t>
            </a:r>
          </a:p>
          <a:p>
            <a:pPr algn="l">
              <a:spcAft>
                <a:spcPts val="200"/>
              </a:spcAft>
            </a:pPr>
            <a:r>
              <a:rPr sz="800" b="0">
                <a:solidFill>
                  <a:srgbClr val="1A1A1A"/>
                </a:solidFill>
                <a:latin typeface="Segoe UI"/>
              </a:rPr>
              <a:t>setup-project-directory scaffolds plan/ data/ drafts/ obsolete/ and the R float pipeline. Six questions, every one with a default. It never overwrites anything - run it on a folder you already have and it repairs rather than replaces.</a:t>
            </a:r>
          </a:p>
        </p:txBody>
      </p:sp>
      <p:sp>
        <p:nvSpPr>
          <p:cNvPr id="10" name="Down Arrow 9"/>
          <p:cNvSpPr/>
          <p:nvPr/>
        </p:nvSpPr>
        <p:spPr>
          <a:xfrm>
            <a:off x="3200400" y="4251959"/>
            <a:ext cx="219456" cy="146304"/>
          </a:xfrm>
          <a:prstGeom prst="downArrow">
            <a:avLst/>
          </a:prstGeom>
          <a:solidFill>
            <a:srgbClr val="2E5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4398264"/>
            <a:ext cx="5623560" cy="868680"/>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4.  Mock Data</a:t>
            </a:r>
          </a:p>
          <a:p>
            <a:pPr algn="l">
              <a:spcAft>
                <a:spcPts val="200"/>
              </a:spcAft>
            </a:pPr>
            <a:r>
              <a:rPr sz="800" b="0">
                <a:solidFill>
                  <a:srgbClr val="1A1A1A"/>
                </a:solidFill>
                <a:latin typeface="Segoe UI"/>
              </a:rPr>
              <a:t>data/mock_data/*_mock.csv, generated from the data contract the idea session wrote. The _mock suffix IS the safety mechanism: a mock float is watermarked and the coauthor .docx is refused while any input is mock. Adjust the generator and re-run as the real design settles.</a:t>
            </a:r>
          </a:p>
        </p:txBody>
      </p:sp>
      <p:sp>
        <p:nvSpPr>
          <p:cNvPr id="12" name="Down Arrow 11"/>
          <p:cNvSpPr/>
          <p:nvPr/>
        </p:nvSpPr>
        <p:spPr>
          <a:xfrm>
            <a:off x="3200400" y="5285231"/>
            <a:ext cx="219456" cy="146304"/>
          </a:xfrm>
          <a:prstGeom prst="downArrow">
            <a:avLst/>
          </a:prstGeom>
          <a:solidFill>
            <a:srgbClr val="2E5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5431536"/>
            <a:ext cx="5623560" cy="868680"/>
          </a:xfrm>
          <a:prstGeom prst="roundRect">
            <a:avLst>
              <a:gd name="adj" fmla="val 6000"/>
            </a:avLst>
          </a:prstGeom>
          <a:solidFill>
            <a:srgbClr val="E8F0F8"/>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5.  Draft Figures</a:t>
            </a:r>
          </a:p>
          <a:p>
            <a:pPr algn="l">
              <a:spcAft>
                <a:spcPts val="200"/>
              </a:spcAft>
            </a:pPr>
            <a:r>
              <a:rPr sz="800" b="0">
                <a:solidFill>
                  <a:srgbClr val="1A1A1A"/>
                </a:solidFill>
                <a:latin typeface="Segoe UI"/>
              </a:rPr>
              <a:t>one float, one folder: plan/figures/FigNN/figure.R. Flip its BUILT guard to TRUE, point it at the mock CSV, run Rscript plan/render_all.R - and the paper's central figure is on screen in an afternoon. Point it at data/raw/ later and the MOCK stamp goes away.</a:t>
            </a:r>
          </a:p>
        </p:txBody>
      </p:sp>
      <p:sp>
        <p:nvSpPr>
          <p:cNvPr id="14" name="Rounded Rectangle 13"/>
          <p:cNvSpPr/>
          <p:nvPr/>
        </p:nvSpPr>
        <p:spPr>
          <a:xfrm>
            <a:off x="6400800" y="1298448"/>
            <a:ext cx="5285232" cy="4224528"/>
          </a:xfrm>
          <a:prstGeom prst="roundRect">
            <a:avLst>
              <a:gd name="adj" fmla="val 6000"/>
            </a:avLst>
          </a:prstGeom>
          <a:solidFill>
            <a:srgbClr val="FFFFFF"/>
          </a:solidFill>
          <a:ln w="12700">
            <a:solidFill>
              <a:srgbClr val="5B6570"/>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endParaRPr/>
          </a:p>
          <a:p>
            <a:pPr algn="ctr">
              <a:spcAft>
                <a:spcPts val="200"/>
              </a:spcAft>
            </a:pPr>
            <a:r>
              <a:rPr sz="1400" b="1">
                <a:solidFill>
                  <a:srgbClr val="5B6570"/>
                </a:solidFill>
                <a:latin typeface="Segoe UI"/>
              </a:rPr>
              <a:t>[  Paste A Screenshot Of An Example  ]</a:t>
            </a:r>
          </a:p>
          <a:p>
            <a:pPr algn="ctr">
              <a:spcAft>
                <a:spcPts val="200"/>
              </a:spcAft>
            </a:pPr>
            <a:r>
              <a:rPr sz="1400" b="1">
                <a:solidFill>
                  <a:srgbClr val="5B6570"/>
                </a:solidFill>
                <a:latin typeface="Segoe UI"/>
              </a:rPr>
              <a:t>[  Project Directory Here  ]</a:t>
            </a:r>
          </a:p>
          <a:p>
            <a:pPr algn="ctr">
              <a:spcAft>
                <a:spcPts val="200"/>
              </a:spcAft>
            </a:pPr>
            <a:endParaRPr sz="1400" b="1">
              <a:solidFill>
                <a:srgbClr val="5B6570"/>
              </a:solidFill>
              <a:latin typeface="Segoe UI"/>
            </a:endParaRPr>
          </a:p>
          <a:p>
            <a:pPr algn="ctr">
              <a:spcAft>
                <a:spcPts val="200"/>
              </a:spcAft>
            </a:pPr>
            <a:r>
              <a:rPr sz="900" b="0">
                <a:solidFill>
                  <a:srgbClr val="5B6570"/>
                </a:solidFill>
                <a:latin typeface="Segoe UI"/>
              </a:rPr>
              <a:t>Right-click this box  -&gt;  Format Shape  -&gt;  Fill  -&gt;  Picture, or just paste over it.</a:t>
            </a:r>
          </a:p>
        </p:txBody>
      </p:sp>
      <p:sp>
        <p:nvSpPr>
          <p:cNvPr id="15" name="Rounded Rectangle 14"/>
          <p:cNvSpPr/>
          <p:nvPr/>
        </p:nvSpPr>
        <p:spPr>
          <a:xfrm>
            <a:off x="6400800" y="5623560"/>
            <a:ext cx="5285232" cy="841248"/>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What The Scaffold Writes</a:t>
            </a:r>
          </a:p>
          <a:p>
            <a:pPr algn="l">
              <a:spcAft>
                <a:spcPts val="200"/>
              </a:spcAft>
            </a:pPr>
            <a:r>
              <a:rPr sz="800" b="0">
                <a:solidFill>
                  <a:srgbClr val="1A1A1A"/>
                </a:solidFill>
                <a:latin typeface="Segoe UI"/>
              </a:rPr>
              <a:t>plan/  (outline, README, captions, figures/FigNN/, tables/, theme/)  ·  data/  (raw/, raw_images/, analysis/, mock_data/, methods_facts.yml, data_contract.md)  ·  drafts/  (rough_draft.md, source_text/, references.bib)  ·  obsolete/  ·  project.yml</a:t>
            </a:r>
          </a:p>
        </p:txBody>
      </p:sp>
      <p:sp>
        <p:nvSpPr>
          <p:cNvPr id="16" name="TextBox 15"/>
          <p:cNvSpPr txBox="1"/>
          <p:nvPr/>
        </p:nvSpPr>
        <p:spPr>
          <a:xfrm>
            <a:off x="502920" y="6419088"/>
            <a:ext cx="11155680" cy="274320"/>
          </a:xfrm>
          <a:prstGeom prst="rect">
            <a:avLst/>
          </a:prstGeom>
          <a:noFill/>
        </p:spPr>
        <p:txBody>
          <a:bodyPr wrap="square" lIns="73152" rIns="73152">
            <a:spAutoFit/>
          </a:bodyPr>
          <a:lstStyle/>
          <a:p>
            <a:pPr algn="l">
              <a:spcAft>
                <a:spcPts val="200"/>
              </a:spcAft>
            </a:pPr>
            <a:r>
              <a:rPr sz="900" b="0">
                <a:solidFill>
                  <a:srgbClr val="5B6570"/>
                </a:solidFill>
                <a:latin typeface="Segoe UI"/>
              </a:rPr>
              <a:t>Every citation goes through scholar.py verify before it reaches a file. No citation ever comes from memory.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Research Work - What You Fill In</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The aids hold the shape of the folder and stay out of it. These are the files the writing engine reads.</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80160"/>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data/methods_facts.yml</a:t>
            </a:r>
          </a:p>
          <a:p>
            <a:pPr algn="l">
              <a:spcAft>
                <a:spcPts val="200"/>
              </a:spcAft>
            </a:pPr>
            <a:r>
              <a:rPr sz="800" b="0">
                <a:solidFill>
                  <a:srgbClr val="1A1A1A"/>
                </a:solidFill>
                <a:latin typeface="Segoe UI"/>
              </a:rPr>
              <a:t>Instrument settings, one block per method - the facts the methods section is built from. It is YAML: there is no methods_facts.md. scaffold.py prefill writes the skeleton for your field; scaffold.py harvest reads settings straight off the image metadata.</a:t>
            </a:r>
          </a:p>
        </p:txBody>
      </p:sp>
      <p:sp>
        <p:nvSpPr>
          <p:cNvPr id="6" name="Rounded Rectangle 5"/>
          <p:cNvSpPr/>
          <p:nvPr/>
        </p:nvSpPr>
        <p:spPr>
          <a:xfrm>
            <a:off x="6373368" y="1280160"/>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plan/outline.md</a:t>
            </a:r>
          </a:p>
          <a:p>
            <a:pPr algn="l">
              <a:spcAft>
                <a:spcPts val="200"/>
              </a:spcAft>
            </a:pPr>
            <a:r>
              <a:rPr sz="800" b="0">
                <a:solidFill>
                  <a:srgbClr val="1A1A1A"/>
                </a:solidFill>
                <a:latin typeface="Segoe UI"/>
              </a:rPr>
              <a:t>The # Notes region is YOURS - write what you want said, in any order. The engine turns it into # Structure and never edits your half. A complete outline is left alone.</a:t>
            </a:r>
          </a:p>
        </p:txBody>
      </p:sp>
      <p:sp>
        <p:nvSpPr>
          <p:cNvPr id="7" name="Rounded Rectangle 6"/>
          <p:cNvSpPr/>
          <p:nvPr/>
        </p:nvSpPr>
        <p:spPr>
          <a:xfrm>
            <a:off x="502920" y="2185415"/>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plan/README.md</a:t>
            </a:r>
          </a:p>
          <a:p>
            <a:pPr algn="l">
              <a:spcAft>
                <a:spcPts val="200"/>
              </a:spcAft>
            </a:pPr>
            <a:r>
              <a:rPr sz="800" b="0">
                <a:solidFill>
                  <a:srgbClr val="1A1A1A"/>
                </a:solidFill>
                <a:latin typeface="Segoe UI"/>
              </a:rPr>
              <a:t>The hypothesis and the story. This is the file every blind module is denied, which is what makes their reports worth reading.</a:t>
            </a:r>
          </a:p>
        </p:txBody>
      </p:sp>
      <p:sp>
        <p:nvSpPr>
          <p:cNvPr id="8" name="Rounded Rectangle 7"/>
          <p:cNvSpPr/>
          <p:nvPr/>
        </p:nvSpPr>
        <p:spPr>
          <a:xfrm>
            <a:off x="6373368" y="2185415"/>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drafts/rough_draft.md</a:t>
            </a:r>
          </a:p>
          <a:p>
            <a:pPr algn="l">
              <a:spcAft>
                <a:spcPts val="200"/>
              </a:spcAft>
            </a:pPr>
            <a:r>
              <a:rPr sz="800" b="0">
                <a:solidFill>
                  <a:srgbClr val="1A1A1A"/>
                </a:solidFill>
                <a:latin typeface="Segoe UI"/>
              </a:rPr>
              <a:t>Optional, and an empty one is a normal project. Write the paper yourself here and the engine EDITS instead of composing - it is the top of the content ladder, and it is primary or ignored, never halfway.</a:t>
            </a:r>
          </a:p>
        </p:txBody>
      </p:sp>
      <p:sp>
        <p:nvSpPr>
          <p:cNvPr id="9" name="Rounded Rectangle 8"/>
          <p:cNvSpPr/>
          <p:nvPr/>
        </p:nvSpPr>
        <p:spPr>
          <a:xfrm>
            <a:off x="502920" y="3090672"/>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data/raw_images/</a:t>
            </a:r>
          </a:p>
          <a:p>
            <a:pPr algn="l">
              <a:spcAft>
                <a:spcPts val="200"/>
              </a:spcAft>
            </a:pPr>
            <a:r>
              <a:rPr sz="800" b="0">
                <a:solidFill>
                  <a:srgbClr val="1A1A1A"/>
                </a:solidFill>
                <a:latin typeface="Segoe UI"/>
              </a:rPr>
              <a:t>Images straight off the instrument - micrographs, gels, spectra. If you have been calling this source_images/, this is it; the engine does not look for that name.</a:t>
            </a:r>
          </a:p>
        </p:txBody>
      </p:sp>
      <p:sp>
        <p:nvSpPr>
          <p:cNvPr id="10" name="Rounded Rectangle 9"/>
          <p:cNvSpPr/>
          <p:nvPr/>
        </p:nvSpPr>
        <p:spPr>
          <a:xfrm>
            <a:off x="6373368" y="3090672"/>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data/raw/</a:t>
            </a:r>
          </a:p>
          <a:p>
            <a:pPr algn="l">
              <a:spcAft>
                <a:spcPts val="200"/>
              </a:spcAft>
            </a:pPr>
            <a:r>
              <a:rPr sz="800" b="0">
                <a:solidFill>
                  <a:srgbClr val="1A1A1A"/>
                </a:solidFill>
                <a:latin typeface="Segoe UI"/>
              </a:rPr>
              <a:t>The numbers, as tables. This is what analysis.R reads and what a figure script points at when the real data lands.</a:t>
            </a:r>
          </a:p>
        </p:txBody>
      </p:sp>
      <p:sp>
        <p:nvSpPr>
          <p:cNvPr id="11" name="Rounded Rectangle 10"/>
          <p:cNvSpPr/>
          <p:nvPr/>
        </p:nvSpPr>
        <p:spPr>
          <a:xfrm>
            <a:off x="502920" y="3995927"/>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data/analysis/analysis.R  -&gt;  analysis.md</a:t>
            </a:r>
          </a:p>
          <a:p>
            <a:pPr algn="l">
              <a:spcAft>
                <a:spcPts val="200"/>
              </a:spcAft>
            </a:pPr>
            <a:r>
              <a:rPr sz="800" b="0">
                <a:solidFill>
                  <a:srgbClr val="1A1A1A"/>
                </a:solidFill>
                <a:latin typeface="Segoe UI"/>
              </a:rPr>
              <a:t>You fill in two sections of the script - which columns are outcomes, which split them - and it writes analysis.md. That file is the ONLY place the drafter may take a number from. The `analysis` skill fills in those two sections with you.</a:t>
            </a:r>
          </a:p>
        </p:txBody>
      </p:sp>
      <p:sp>
        <p:nvSpPr>
          <p:cNvPr id="12" name="Rounded Rectangle 11"/>
          <p:cNvSpPr/>
          <p:nvPr/>
        </p:nvSpPr>
        <p:spPr>
          <a:xfrm>
            <a:off x="6373368" y="3995927"/>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plan/captions.md</a:t>
            </a:r>
          </a:p>
          <a:p>
            <a:pPr algn="l">
              <a:spcAft>
                <a:spcPts val="200"/>
              </a:spcAft>
            </a:pPr>
            <a:r>
              <a:rPr sz="800" b="0">
                <a:solidFill>
                  <a:srgbClr val="1A1A1A"/>
                </a:solidFill>
                <a:latin typeface="Segoe UI"/>
              </a:rPr>
              <a:t>One caption per float, each with the claim line the figure is supposed to carry. reviewer-check reads the rendered float against that line.</a:t>
            </a:r>
          </a:p>
        </p:txBody>
      </p:sp>
      <p:sp>
        <p:nvSpPr>
          <p:cNvPr id="13" name="Rounded Rectangle 12"/>
          <p:cNvSpPr/>
          <p:nvPr/>
        </p:nvSpPr>
        <p:spPr>
          <a:xfrm>
            <a:off x="502920" y="4901183"/>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drafts/references.bib</a:t>
            </a:r>
          </a:p>
          <a:p>
            <a:pPr algn="l">
              <a:spcAft>
                <a:spcPts val="200"/>
              </a:spcAft>
            </a:pPr>
            <a:r>
              <a:rPr sz="800" b="0">
                <a:solidFill>
                  <a:srgbClr val="1A1A1A"/>
                </a:solidFill>
                <a:latin typeface="Segoe UI"/>
              </a:rPr>
              <a:t>Verified through scholar.py, never from memory. citation-check runs in every preset that writes prose and is never offered as a choice.</a:t>
            </a:r>
          </a:p>
        </p:txBody>
      </p:sp>
      <p:sp>
        <p:nvSpPr>
          <p:cNvPr id="14" name="Rounded Rectangle 13"/>
          <p:cNvSpPr/>
          <p:nvPr/>
        </p:nvSpPr>
        <p:spPr>
          <a:xfrm>
            <a:off x="6373368" y="4901183"/>
            <a:ext cx="5669280" cy="841248"/>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plan/authors.md  +  plan/affiliations.md</a:t>
            </a:r>
          </a:p>
          <a:p>
            <a:pPr algn="l">
              <a:spcAft>
                <a:spcPts val="200"/>
              </a:spcAft>
            </a:pPr>
            <a:r>
              <a:rPr sz="800" b="0">
                <a:solidFill>
                  <a:srgbClr val="1A1A1A"/>
                </a:solidFill>
                <a:latin typeface="Segoe UI"/>
              </a:rPr>
              <a:t>Author order, affiliations, funding, CRediT. They ship blank - fill them in on day one, when you already know the answers. The engine asks if you did not, but a missing figure is an email and a missing coauthor is a correction notice.</a:t>
            </a:r>
          </a:p>
        </p:txBody>
      </p:sp>
      <p:sp>
        <p:nvSpPr>
          <p:cNvPr id="15" name="Rounded Rectangle 14"/>
          <p:cNvSpPr/>
          <p:nvPr/>
        </p:nvSpPr>
        <p:spPr>
          <a:xfrm>
            <a:off x="502920" y="5797296"/>
            <a:ext cx="6720840" cy="749808"/>
          </a:xfrm>
          <a:prstGeom prst="roundRect">
            <a:avLst>
              <a:gd name="adj" fmla="val 6000"/>
            </a:avLst>
          </a:prstGeom>
          <a:solidFill>
            <a:srgbClr val="FFF6E5"/>
          </a:solidFill>
          <a:ln w="12700">
            <a:solidFill>
              <a:srgbClr val="A9601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00" b="1">
                <a:solidFill>
                  <a:srgbClr val="1A1A1A"/>
                </a:solidFill>
                <a:latin typeface="Segoe UI"/>
              </a:rPr>
              <a:t>Mock Data Is A Head Start, Not A Requirement</a:t>
            </a:r>
          </a:p>
          <a:p>
            <a:pPr algn="l">
              <a:spcAft>
                <a:spcPts val="200"/>
              </a:spcAft>
            </a:pPr>
            <a:r>
              <a:rPr sz="800" b="0">
                <a:solidFill>
                  <a:srgbClr val="1A1A1A"/>
                </a:solidFill>
                <a:latin typeface="Segoe UI"/>
              </a:rPr>
              <a:t>data/mock_data/*_mock.csv is there from day one so every figure script runs before any data does. Adjust the generator as the design settles, re-render, and point the script at data/raw/ when the real numbers land - which is also how the MOCK watermark goes away.</a:t>
            </a:r>
          </a:p>
        </p:txBody>
      </p:sp>
      <p:sp>
        <p:nvSpPr>
          <p:cNvPr id="16" name="Rounded Rectangle 15"/>
          <p:cNvSpPr/>
          <p:nvPr/>
        </p:nvSpPr>
        <p:spPr>
          <a:xfrm>
            <a:off x="7452360" y="5797296"/>
            <a:ext cx="4206240" cy="749808"/>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00" b="1">
                <a:solidFill>
                  <a:srgbClr val="1A1A1A"/>
                </a:solidFill>
                <a:latin typeface="Segoe UI"/>
              </a:rPr>
              <a:t>Do Not Guess - Ask</a:t>
            </a:r>
          </a:p>
          <a:p>
            <a:pPr algn="l">
              <a:spcAft>
                <a:spcPts val="200"/>
              </a:spcAft>
            </a:pPr>
            <a:r>
              <a:rPr sz="800" b="0">
                <a:solidFill>
                  <a:srgbClr val="1A1A1A"/>
                </a:solidFill>
                <a:latin typeface="Segoe UI"/>
              </a:rPr>
              <a:t>manuscript.py completeness "&lt;project&gt;" reports every file above as FILLED, EMPTY or MISSING. EMPTY and MISSING are different problems: an EMPTY file exists and needs writing in, a MISSING one has to be created first.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The Writing Engine</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One round, left to right. Then it runs again - and every round it knows more about how you write.</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968496" y="1207008"/>
            <a:ext cx="2377440" cy="548640"/>
          </a:xfrm>
          <a:prstGeom prst="roundRect">
            <a:avLst>
              <a:gd name="adj" fmla="val 6000"/>
            </a:avLst>
          </a:prstGeom>
          <a:solidFill>
            <a:srgbClr val="FCF0E4"/>
          </a:solidFill>
          <a:ln w="12700">
            <a:solidFill>
              <a:srgbClr val="A9601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900" b="1">
                <a:solidFill>
                  <a:srgbClr val="1A1A1A"/>
                </a:solidFill>
                <a:latin typeface="Segoe UI"/>
              </a:rPr>
              <a:t>Target Journal Requirements</a:t>
            </a:r>
          </a:p>
          <a:p>
            <a:pPr algn="ctr">
              <a:spcAft>
                <a:spcPts val="200"/>
              </a:spcAft>
            </a:pPr>
            <a:r>
              <a:rPr sz="700" b="0">
                <a:solidFill>
                  <a:srgbClr val="5B6570"/>
                </a:solidFill>
                <a:latin typeface="Segoe UI"/>
              </a:rPr>
              <a:t>journal_requirements/requirements.yml</a:t>
            </a:r>
          </a:p>
        </p:txBody>
      </p:sp>
      <p:sp>
        <p:nvSpPr>
          <p:cNvPr id="6" name="Down Arrow 5"/>
          <p:cNvSpPr/>
          <p:nvPr/>
        </p:nvSpPr>
        <p:spPr>
          <a:xfrm>
            <a:off x="5056631" y="1792224"/>
            <a:ext cx="201168" cy="256032"/>
          </a:xfrm>
          <a:prstGeom prst="downArrow">
            <a:avLst/>
          </a:prstGeom>
          <a:solidFill>
            <a:srgbClr val="A96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084831"/>
            <a:ext cx="1682496" cy="1572768"/>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Input</a:t>
            </a:r>
          </a:p>
          <a:p>
            <a:pPr algn="l">
              <a:spcAft>
                <a:spcPts val="200"/>
              </a:spcAft>
            </a:pPr>
            <a:r>
              <a:rPr sz="700" b="0">
                <a:solidFill>
                  <a:srgbClr val="1A1A1A"/>
                </a:solidFill>
                <a:latin typeface="Segoe UI"/>
              </a:rPr>
              <a:t>plan/outline.md   plan/README.md</a:t>
            </a:r>
          </a:p>
          <a:p>
            <a:pPr algn="l">
              <a:spcAft>
                <a:spcPts val="200"/>
              </a:spcAft>
            </a:pPr>
            <a:r>
              <a:rPr sz="700" b="0">
                <a:solidFill>
                  <a:srgbClr val="1A1A1A"/>
                </a:solidFill>
                <a:latin typeface="Segoe UI"/>
              </a:rPr>
              <a:t>plan/captions.md + claim lines</a:t>
            </a:r>
          </a:p>
          <a:p>
            <a:pPr algn="l">
              <a:spcAft>
                <a:spcPts val="200"/>
              </a:spcAft>
            </a:pPr>
            <a:r>
              <a:rPr sz="700" b="0">
                <a:solidFill>
                  <a:srgbClr val="1A1A1A"/>
                </a:solidFill>
                <a:latin typeface="Segoe UI"/>
              </a:rPr>
              <a:t>figures + tables, rendered</a:t>
            </a:r>
          </a:p>
          <a:p>
            <a:pPr algn="l">
              <a:spcAft>
                <a:spcPts val="200"/>
              </a:spcAft>
            </a:pPr>
            <a:r>
              <a:rPr sz="700" b="0">
                <a:solidFill>
                  <a:srgbClr val="1A1A1A"/>
                </a:solidFill>
                <a:latin typeface="Segoe UI"/>
              </a:rPr>
              <a:t>data/analysis/analysis.md</a:t>
            </a:r>
          </a:p>
          <a:p>
            <a:pPr algn="l">
              <a:spcAft>
                <a:spcPts val="200"/>
              </a:spcAft>
            </a:pPr>
            <a:r>
              <a:rPr sz="700" b="0">
                <a:solidFill>
                  <a:srgbClr val="1A1A1A"/>
                </a:solidFill>
                <a:latin typeface="Segoe UI"/>
              </a:rPr>
              <a:t>data/methods_facts.yml</a:t>
            </a:r>
          </a:p>
          <a:p>
            <a:pPr algn="l">
              <a:spcAft>
                <a:spcPts val="200"/>
              </a:spcAft>
            </a:pPr>
            <a:r>
              <a:rPr sz="700" b="0">
                <a:solidFill>
                  <a:srgbClr val="1A1A1A"/>
                </a:solidFill>
                <a:latin typeface="Segoe UI"/>
              </a:rPr>
              <a:t>plan/literature_landscape.md</a:t>
            </a:r>
          </a:p>
          <a:p>
            <a:pPr algn="l">
              <a:spcAft>
                <a:spcPts val="200"/>
              </a:spcAft>
            </a:pPr>
            <a:r>
              <a:rPr sz="700" b="0">
                <a:solidFill>
                  <a:srgbClr val="1A1A1A"/>
                </a:solidFill>
                <a:latin typeface="Segoe UI"/>
              </a:rPr>
              <a:t>drafts/references.bib</a:t>
            </a:r>
          </a:p>
          <a:p>
            <a:pPr algn="l">
              <a:spcAft>
                <a:spcPts val="200"/>
              </a:spcAft>
            </a:pPr>
            <a:r>
              <a:rPr sz="700" b="0">
                <a:solidFill>
                  <a:srgbClr val="1A1A1A"/>
                </a:solidFill>
                <a:latin typeface="Segoe UI"/>
              </a:rPr>
              <a:t>drafts/rough_draft.md</a:t>
            </a:r>
          </a:p>
        </p:txBody>
      </p:sp>
      <p:sp>
        <p:nvSpPr>
          <p:cNvPr id="8" name="Right Arrow 7"/>
          <p:cNvSpPr/>
          <p:nvPr/>
        </p:nvSpPr>
        <p:spPr>
          <a:xfrm>
            <a:off x="2249424" y="2770632"/>
            <a:ext cx="164592" cy="201168"/>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432304" y="2084831"/>
            <a:ext cx="1682496" cy="1572768"/>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Drafter</a:t>
            </a:r>
          </a:p>
          <a:p>
            <a:pPr algn="l">
              <a:spcAft>
                <a:spcPts val="200"/>
              </a:spcAft>
            </a:pPr>
            <a:r>
              <a:rPr sz="800" b="1">
                <a:solidFill>
                  <a:srgbClr val="6A4A8C"/>
                </a:solidFill>
                <a:latin typeface="Segoe UI"/>
              </a:rPr>
              <a:t>draft-sections [agent]</a:t>
            </a:r>
          </a:p>
          <a:p>
            <a:pPr algn="l">
              <a:spcAft>
                <a:spcPts val="200"/>
              </a:spcAft>
            </a:pPr>
            <a:r>
              <a:rPr sz="700" b="0">
                <a:solidFill>
                  <a:srgbClr val="1A1A1A"/>
                </a:solidFill>
                <a:latin typeface="Segoe UI"/>
              </a:rPr>
              <a:t>abstract [BLIND]</a:t>
            </a:r>
          </a:p>
          <a:p>
            <a:pPr algn="l">
              <a:spcAft>
                <a:spcPts val="200"/>
              </a:spcAft>
            </a:pPr>
            <a:r>
              <a:rPr sz="700" b="0">
                <a:solidFill>
                  <a:srgbClr val="1A1A1A"/>
                </a:solidFill>
                <a:latin typeface="Segoe UI"/>
              </a:rPr>
              <a:t>Writes the body from the outline,</a:t>
            </a:r>
          </a:p>
          <a:p>
            <a:pPr algn="l">
              <a:spcAft>
                <a:spcPts val="200"/>
              </a:spcAft>
            </a:pPr>
            <a:r>
              <a:rPr sz="700" b="0">
                <a:solidFill>
                  <a:srgbClr val="1A1A1A"/>
                </a:solidFill>
                <a:latin typeface="Segoe UI"/>
              </a:rPr>
              <a:t>then the title and abstract LAST -</a:t>
            </a:r>
          </a:p>
          <a:p>
            <a:pPr algn="l">
              <a:spcAft>
                <a:spcPts val="200"/>
              </a:spcAft>
            </a:pPr>
            <a:r>
              <a:rPr sz="700" b="0">
                <a:solidFill>
                  <a:srgbClr val="1A1A1A"/>
                </a:solidFill>
                <a:latin typeface="Segoe UI"/>
              </a:rPr>
              <a:t>and the abstract agent is denied</a:t>
            </a:r>
          </a:p>
          <a:p>
            <a:pPr algn="l">
              <a:spcAft>
                <a:spcPts val="200"/>
              </a:spcAft>
            </a:pPr>
            <a:r>
              <a:rPr sz="700" b="0">
                <a:solidFill>
                  <a:srgbClr val="1A1A1A"/>
                </a:solidFill>
                <a:latin typeface="Segoe UI"/>
              </a:rPr>
              <a:t>the README and the hypothesis.</a:t>
            </a:r>
          </a:p>
        </p:txBody>
      </p:sp>
      <p:sp>
        <p:nvSpPr>
          <p:cNvPr id="10" name="Right Arrow 9"/>
          <p:cNvSpPr/>
          <p:nvPr/>
        </p:nvSpPr>
        <p:spPr>
          <a:xfrm>
            <a:off x="4133087" y="2770632"/>
            <a:ext cx="164592" cy="201168"/>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15968" y="2084831"/>
            <a:ext cx="1682496" cy="1572768"/>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Organizer</a:t>
            </a:r>
          </a:p>
          <a:p>
            <a:pPr algn="l">
              <a:spcAft>
                <a:spcPts val="200"/>
              </a:spcAft>
            </a:pPr>
            <a:r>
              <a:rPr sz="800" b="1">
                <a:solidFill>
                  <a:srgbClr val="6A4A8C"/>
                </a:solidFill>
                <a:latin typeface="Segoe UI"/>
              </a:rPr>
              <a:t>revise-prose [BLIND]</a:t>
            </a:r>
          </a:p>
          <a:p>
            <a:pPr algn="l">
              <a:spcAft>
                <a:spcPts val="200"/>
              </a:spcAft>
            </a:pPr>
            <a:r>
              <a:rPr sz="700" b="0">
                <a:solidFill>
                  <a:srgbClr val="1A1A1A"/>
                </a:solidFill>
                <a:latin typeface="Segoe UI"/>
              </a:rPr>
              <a:t>assemble</a:t>
            </a:r>
          </a:p>
          <a:p>
            <a:pPr algn="l">
              <a:spcAft>
                <a:spcPts val="200"/>
              </a:spcAft>
            </a:pPr>
            <a:r>
              <a:rPr sz="700" b="0">
                <a:solidFill>
                  <a:srgbClr val="1A1A1A"/>
                </a:solidFill>
                <a:latin typeface="Segoe UI"/>
              </a:rPr>
              <a:t>The house voice, denied every</a:t>
            </a:r>
          </a:p>
          <a:p>
            <a:pPr algn="l">
              <a:spcAft>
                <a:spcPts val="200"/>
              </a:spcAft>
            </a:pPr>
            <a:r>
              <a:rPr sz="700" b="0">
                <a:solidFill>
                  <a:srgbClr val="1A1A1A"/>
                </a:solidFill>
                <a:latin typeface="Segoe UI"/>
              </a:rPr>
              <a:t>claim source; then pandoc -&gt; the</a:t>
            </a:r>
          </a:p>
          <a:p>
            <a:pPr algn="l">
              <a:spcAft>
                <a:spcPts val="200"/>
              </a:spcAft>
            </a:pPr>
            <a:r>
              <a:rPr sz="700" b="0">
                <a:solidFill>
                  <a:srgbClr val="1A1A1A"/>
                </a:solidFill>
                <a:latin typeface="Segoe UI"/>
              </a:rPr>
              <a:t>.docx behind six gates.</a:t>
            </a:r>
          </a:p>
        </p:txBody>
      </p:sp>
      <p:sp>
        <p:nvSpPr>
          <p:cNvPr id="12" name="Right Arrow 11"/>
          <p:cNvSpPr/>
          <p:nvPr/>
        </p:nvSpPr>
        <p:spPr>
          <a:xfrm>
            <a:off x="6016751" y="2770632"/>
            <a:ext cx="164592" cy="201168"/>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99631" y="2084831"/>
            <a:ext cx="1682496" cy="1572768"/>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Reviewer</a:t>
            </a:r>
          </a:p>
          <a:p>
            <a:pPr algn="l">
              <a:spcAft>
                <a:spcPts val="200"/>
              </a:spcAft>
            </a:pPr>
            <a:r>
              <a:rPr sz="800" b="1">
                <a:solidFill>
                  <a:srgbClr val="6A4A8C"/>
                </a:solidFill>
                <a:latin typeface="Segoe UI"/>
              </a:rPr>
              <a:t>evidence-check</a:t>
            </a:r>
          </a:p>
          <a:p>
            <a:pPr algn="l">
              <a:spcAft>
                <a:spcPts val="200"/>
              </a:spcAft>
            </a:pPr>
            <a:r>
              <a:rPr sz="700" b="0">
                <a:solidFill>
                  <a:srgbClr val="1A1A1A"/>
                </a:solidFill>
                <a:latin typeface="Segoe UI"/>
              </a:rPr>
              <a:t>stats-check [BLIND]</a:t>
            </a:r>
          </a:p>
          <a:p>
            <a:pPr algn="l">
              <a:spcAft>
                <a:spcPts val="200"/>
              </a:spcAft>
            </a:pPr>
            <a:r>
              <a:rPr sz="700" b="0">
                <a:solidFill>
                  <a:srgbClr val="1A1A1A"/>
                </a:solidFill>
                <a:latin typeface="Segoe UI"/>
              </a:rPr>
              <a:t>reviewer-check [BLIND]</a:t>
            </a:r>
          </a:p>
          <a:p>
            <a:pPr algn="l">
              <a:spcAft>
                <a:spcPts val="200"/>
              </a:spcAft>
            </a:pPr>
            <a:r>
              <a:rPr sz="700" b="0">
                <a:solidFill>
                  <a:srgbClr val="1A1A1A"/>
                </a:solidFill>
                <a:latin typeface="Segoe UI"/>
              </a:rPr>
              <a:t>Every number traces to something</a:t>
            </a:r>
          </a:p>
          <a:p>
            <a:pPr algn="l">
              <a:spcAft>
                <a:spcPts val="200"/>
              </a:spcAft>
            </a:pPr>
            <a:r>
              <a:rPr sz="700" b="0">
                <a:solidFill>
                  <a:srgbClr val="1A1A1A"/>
                </a:solidFill>
                <a:latin typeface="Segoe UI"/>
              </a:rPr>
              <a:t>recorded; the built paper is read</a:t>
            </a:r>
          </a:p>
          <a:p>
            <a:pPr algn="l">
              <a:spcAft>
                <a:spcPts val="200"/>
              </a:spcAft>
            </a:pPr>
            <a:r>
              <a:rPr sz="700" b="0">
                <a:solidFill>
                  <a:srgbClr val="1A1A1A"/>
                </a:solidFill>
                <a:latin typeface="Segoe UI"/>
              </a:rPr>
              <a:t>the way a reviewer would read it.</a:t>
            </a:r>
          </a:p>
        </p:txBody>
      </p:sp>
      <p:sp>
        <p:nvSpPr>
          <p:cNvPr id="14" name="Right Arrow 13"/>
          <p:cNvSpPr/>
          <p:nvPr/>
        </p:nvSpPr>
        <p:spPr>
          <a:xfrm>
            <a:off x="7900415" y="2770632"/>
            <a:ext cx="164592" cy="201168"/>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83296" y="2084831"/>
            <a:ext cx="1682496" cy="1572768"/>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Citations Checker</a:t>
            </a:r>
          </a:p>
          <a:p>
            <a:pPr algn="l">
              <a:spcAft>
                <a:spcPts val="200"/>
              </a:spcAft>
            </a:pPr>
            <a:r>
              <a:rPr sz="800" b="1">
                <a:solidFill>
                  <a:srgbClr val="6A4A8C"/>
                </a:solidFill>
                <a:latin typeface="Segoe UI"/>
              </a:rPr>
              <a:t>citation-check [agent]</a:t>
            </a:r>
          </a:p>
          <a:p>
            <a:pPr algn="l">
              <a:spcAft>
                <a:spcPts val="200"/>
              </a:spcAft>
            </a:pPr>
            <a:r>
              <a:rPr sz="700" b="0">
                <a:solidFill>
                  <a:srgbClr val="1A1A1A"/>
                </a:solidFill>
                <a:latin typeface="Segoe UI"/>
              </a:rPr>
              <a:t>Every in-text key resolves, every</a:t>
            </a:r>
          </a:p>
          <a:p>
            <a:pPr algn="l">
              <a:spcAft>
                <a:spcPts val="200"/>
              </a:spcAft>
            </a:pPr>
            <a:r>
              <a:rPr sz="700" b="0">
                <a:solidFill>
                  <a:srgbClr val="1A1A1A"/>
                </a:solidFill>
                <a:latin typeface="Segoe UI"/>
              </a:rPr>
              <a:t>entry is cited, no duplicates,</a:t>
            </a:r>
          </a:p>
          <a:p>
            <a:pPr algn="l">
              <a:spcAft>
                <a:spcPts val="200"/>
              </a:spcAft>
            </a:pPr>
            <a:r>
              <a:rPr sz="700" b="0">
                <a:solidFill>
                  <a:srgbClr val="1A1A1A"/>
                </a:solidFill>
                <a:latin typeface="Segoe UI"/>
              </a:rPr>
              <a:t>under the cap. Never offered as a</a:t>
            </a:r>
          </a:p>
          <a:p>
            <a:pPr algn="l">
              <a:spcAft>
                <a:spcPts val="200"/>
              </a:spcAft>
            </a:pPr>
            <a:r>
              <a:rPr sz="700" b="0">
                <a:solidFill>
                  <a:srgbClr val="1A1A1A"/>
                </a:solidFill>
                <a:latin typeface="Segoe UI"/>
              </a:rPr>
              <a:t>choice - it simply runs.</a:t>
            </a:r>
          </a:p>
        </p:txBody>
      </p:sp>
      <p:sp>
        <p:nvSpPr>
          <p:cNvPr id="16" name="Right Arrow 15"/>
          <p:cNvSpPr/>
          <p:nvPr/>
        </p:nvSpPr>
        <p:spPr>
          <a:xfrm>
            <a:off x="9784080" y="2770632"/>
            <a:ext cx="164592" cy="201168"/>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966960" y="2084831"/>
            <a:ext cx="1682496" cy="1572768"/>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1">
                <a:solidFill>
                  <a:srgbClr val="1A1A1A"/>
                </a:solidFill>
                <a:latin typeface="Segoe UI"/>
              </a:rPr>
              <a:t>User Edits</a:t>
            </a:r>
          </a:p>
          <a:p>
            <a:pPr algn="l">
              <a:spcAft>
                <a:spcPts val="200"/>
              </a:spcAft>
            </a:pPr>
            <a:r>
              <a:rPr sz="800" b="1">
                <a:solidFill>
                  <a:srgbClr val="6A4A8C"/>
                </a:solidFill>
                <a:latin typeface="Segoe UI"/>
              </a:rPr>
              <a:t>docx_edits.py -&gt; ingest</a:t>
            </a:r>
          </a:p>
          <a:p>
            <a:pPr algn="l">
              <a:spcAft>
                <a:spcPts val="200"/>
              </a:spcAft>
            </a:pPr>
            <a:r>
              <a:rPr sz="700" b="0">
                <a:solidFill>
                  <a:srgbClr val="1A1A1A"/>
                </a:solidFill>
                <a:latin typeface="Segoe UI"/>
              </a:rPr>
              <a:t>Tracked changes from you and from</a:t>
            </a:r>
          </a:p>
          <a:p>
            <a:pPr algn="l">
              <a:spcAft>
                <a:spcPts val="200"/>
              </a:spcAft>
            </a:pPr>
            <a:r>
              <a:rPr sz="700" b="0">
                <a:solidFill>
                  <a:srgbClr val="1A1A1A"/>
                </a:solidFill>
                <a:latin typeface="Segoe UI"/>
              </a:rPr>
              <a:t>every coauthor, attributed per</a:t>
            </a:r>
          </a:p>
          <a:p>
            <a:pPr algn="l">
              <a:spcAft>
                <a:spcPts val="200"/>
              </a:spcAft>
            </a:pPr>
            <a:r>
              <a:rPr sz="700" b="0">
                <a:solidFill>
                  <a:srgbClr val="1A1A1A"/>
                </a:solidFill>
                <a:latin typeface="Segoe UI"/>
              </a:rPr>
              <a:t>author, into edits_status.md -</a:t>
            </a:r>
          </a:p>
          <a:p>
            <a:pPr algn="l">
              <a:spcAft>
                <a:spcPts val="200"/>
              </a:spcAft>
            </a:pPr>
            <a:r>
              <a:rPr sz="700" b="0">
                <a:solidFill>
                  <a:srgbClr val="1A1A1A"/>
                </a:solidFill>
                <a:latin typeface="Segoe UI"/>
              </a:rPr>
              <a:t>one row per point, nothing lost.</a:t>
            </a:r>
          </a:p>
        </p:txBody>
      </p:sp>
      <p:sp>
        <p:nvSpPr>
          <p:cNvPr id="18" name="Down Arrow 17"/>
          <p:cNvSpPr/>
          <p:nvPr/>
        </p:nvSpPr>
        <p:spPr>
          <a:xfrm>
            <a:off x="10707624" y="3675887"/>
            <a:ext cx="201168" cy="310896"/>
          </a:xfrm>
          <a:prstGeom prst="downArrow">
            <a:avLst/>
          </a:prstGeom>
          <a:solidFill>
            <a:srgbClr val="A96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549640" y="4023360"/>
            <a:ext cx="3108960" cy="713232"/>
          </a:xfrm>
          <a:prstGeom prst="roundRect">
            <a:avLst>
              <a:gd name="adj" fmla="val 6000"/>
            </a:avLst>
          </a:prstGeom>
          <a:solidFill>
            <a:srgbClr val="FCF0E4"/>
          </a:solidFill>
          <a:ln w="12700">
            <a:solidFill>
              <a:srgbClr val="A9601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Submission</a:t>
            </a:r>
          </a:p>
          <a:p>
            <a:pPr algn="l">
              <a:spcAft>
                <a:spcPts val="200"/>
              </a:spcAft>
            </a:pPr>
            <a:r>
              <a:rPr sz="800" b="0">
                <a:solidFill>
                  <a:srgbClr val="1A1A1A"/>
                </a:solidFill>
                <a:latin typeface="Segoe UI"/>
              </a:rPr>
              <a:t>final-check  -&gt;  submission-package. Refuses while any [FLAG: ...] remains anywhere in the paper.</a:t>
            </a:r>
          </a:p>
        </p:txBody>
      </p:sp>
      <p:sp>
        <p:nvSpPr>
          <p:cNvPr id="20" name="Rounded Rectangle 19"/>
          <p:cNvSpPr/>
          <p:nvPr/>
        </p:nvSpPr>
        <p:spPr>
          <a:xfrm>
            <a:off x="548640" y="4023360"/>
            <a:ext cx="7818120" cy="713232"/>
          </a:xfrm>
          <a:prstGeom prst="roundRect">
            <a:avLst>
              <a:gd name="adj" fmla="val 6000"/>
            </a:avLst>
          </a:prstGeom>
          <a:solidFill>
            <a:srgbClr val="FFFFFF"/>
          </a:solidFill>
          <a:ln w="12700">
            <a:solidFill>
              <a:srgbClr val="B3341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B3341E"/>
                </a:solidFill>
                <a:latin typeface="Segoe UI"/>
              </a:rPr>
              <a:t>BLIND Is The Load-Bearing Word</a:t>
            </a:r>
          </a:p>
          <a:p>
            <a:pPr algn="l">
              <a:spcAft>
                <a:spcPts val="200"/>
              </a:spcAft>
            </a:pPr>
            <a:r>
              <a:rPr sz="800" b="0">
                <a:solidFill>
                  <a:srgbClr val="1A1A1A"/>
                </a:solidFill>
                <a:latin typeface="Segoe UI"/>
              </a:rPr>
              <a:t>Four modules are given an explicit file list and denied the hypothesis, the outline and plan/README.md. An agent that knows what you hoped to find reads an ambiguous result as favourable - and nothing visibly fails when it does. The report still looks fine.</a:t>
            </a:r>
          </a:p>
        </p:txBody>
      </p:sp>
      <p:sp>
        <p:nvSpPr>
          <p:cNvPr id="21" name="Left Arrow 20"/>
          <p:cNvSpPr/>
          <p:nvPr/>
        </p:nvSpPr>
        <p:spPr>
          <a:xfrm>
            <a:off x="685800" y="4901184"/>
            <a:ext cx="9966960" cy="237744"/>
          </a:xfrm>
          <a:prstGeom prst="leftArrow">
            <a:avLst/>
          </a:prstGeom>
          <a:solidFill>
            <a:srgbClr val="B33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175504"/>
            <a:ext cx="11155680" cy="365760"/>
          </a:xfrm>
          <a:prstGeom prst="rect">
            <a:avLst/>
          </a:prstGeom>
          <a:noFill/>
        </p:spPr>
        <p:txBody>
          <a:bodyPr wrap="square" lIns="73152" rIns="73152">
            <a:spAutoFit/>
          </a:bodyPr>
          <a:lstStyle/>
          <a:p>
            <a:pPr algn="l">
              <a:spcAft>
                <a:spcPts val="200"/>
              </a:spcAft>
            </a:pPr>
            <a:r>
              <a:rPr sz="1000" b="1">
                <a:solidFill>
                  <a:srgbClr val="B3341E"/>
                </a:solidFill>
                <a:latin typeface="Segoe UI"/>
              </a:rPr>
              <a:t>Iterative - the whole round runs again.</a:t>
            </a:r>
          </a:p>
          <a:p>
            <a:pPr algn="l">
              <a:spcAft>
                <a:spcPts val="200"/>
              </a:spcAft>
            </a:pPr>
            <a:r>
              <a:rPr sz="800" b="0">
                <a:solidFill>
                  <a:srgbClr val="1A1A1A"/>
                </a:solidFill>
                <a:latin typeface="Segoe UI"/>
              </a:rPr>
              <a:t>Your edits come back in through ingest, the frozen sections are left alone, and every checker re-runs on what actually changed. Agent calls per preset: draft 7  |  sections 7  |  revision 8  |  coauthor 10  |  submission 13 - one fewer whenever the abstract came from your own rough draft. The plan is always stated and always waits for you.</a:t>
            </a:r>
          </a:p>
        </p:txBody>
      </p:sp>
      <p:sp>
        <p:nvSpPr>
          <p:cNvPr id="23" name="Left Arrow 22"/>
          <p:cNvSpPr/>
          <p:nvPr/>
        </p:nvSpPr>
        <p:spPr>
          <a:xfrm>
            <a:off x="2432304" y="5870448"/>
            <a:ext cx="8220456" cy="237744"/>
          </a:xfrm>
          <a:prstGeom prst="leftArrow">
            <a:avLst/>
          </a:prstGeom>
          <a:solidFill>
            <a:srgbClr val="B33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6144768"/>
            <a:ext cx="11155680" cy="411480"/>
          </a:xfrm>
          <a:prstGeom prst="rect">
            <a:avLst/>
          </a:prstGeom>
          <a:noFill/>
        </p:spPr>
        <p:txBody>
          <a:bodyPr wrap="square" lIns="73152" rIns="73152">
            <a:spAutoFit/>
          </a:bodyPr>
          <a:lstStyle/>
          <a:p>
            <a:pPr algn="l">
              <a:spcAft>
                <a:spcPts val="200"/>
              </a:spcAft>
            </a:pPr>
            <a:r>
              <a:rPr sz="1000" b="1">
                <a:solidFill>
                  <a:srgbClr val="B3341E"/>
                </a:solidFill>
                <a:latin typeface="Segoe UI"/>
              </a:rPr>
              <a:t>And it learns - the second arrow is why the drafter improves.</a:t>
            </a:r>
          </a:p>
          <a:p>
            <a:pPr algn="l">
              <a:spcAft>
                <a:spcPts val="200"/>
              </a:spcAft>
            </a:pPr>
            <a:r>
              <a:rPr sz="800" b="0">
                <a:solidFill>
                  <a:srgbClr val="1A1A1A"/>
                </a:solidFill>
                <a:latin typeface="Segoe UI"/>
              </a:rPr>
              <a:t>docx_edits.py reads your tracked changes, learn.py classifies them (two observations before anything becomes a rule), and learn-from-edits puts them in the drafting brief BEFORE the next round writes a word. Your registry never leaves your machine.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Inside The Writing Engine</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All fifteen modules, in the order they run. Run all of it, one section, or one module.</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98448"/>
            <a:ext cx="2651760" cy="987552"/>
          </a:xfrm>
          <a:prstGeom prst="roundRect">
            <a:avLst>
              <a:gd name="adj" fmla="val 6000"/>
            </a:avLst>
          </a:prstGeom>
          <a:solidFill>
            <a:srgbClr val="FFFFFF"/>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  outline</a:t>
            </a:r>
          </a:p>
          <a:p>
            <a:pPr algn="l">
              <a:spcAft>
                <a:spcPts val="200"/>
              </a:spcAft>
            </a:pPr>
            <a:r>
              <a:rPr sz="800" b="1">
                <a:solidFill>
                  <a:srgbClr val="5B6570"/>
                </a:solidFill>
                <a:latin typeface="Segoe UI"/>
              </a:rPr>
              <a:t>Own Context</a:t>
            </a:r>
          </a:p>
          <a:p>
            <a:pPr algn="l">
              <a:spcAft>
                <a:spcPts val="200"/>
              </a:spcAft>
            </a:pPr>
            <a:r>
              <a:rPr sz="800" b="0">
                <a:solidFill>
                  <a:srgbClr val="1A1A1A"/>
                </a:solidFill>
                <a:latin typeface="Segoe UI"/>
              </a:rPr>
              <a:t>proposes or completes the paragraph plan</a:t>
            </a:r>
          </a:p>
        </p:txBody>
      </p:sp>
      <p:sp>
        <p:nvSpPr>
          <p:cNvPr id="6" name="Right Arrow 5"/>
          <p:cNvSpPr/>
          <p:nvPr/>
        </p:nvSpPr>
        <p:spPr>
          <a:xfrm>
            <a:off x="3172968" y="1700784"/>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28415" y="1298448"/>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2.  literature-landscape</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what the field says, from six indexes</a:t>
            </a:r>
          </a:p>
        </p:txBody>
      </p:sp>
      <p:sp>
        <p:nvSpPr>
          <p:cNvPr id="8" name="Right Arrow 7"/>
          <p:cNvSpPr/>
          <p:nvPr/>
        </p:nvSpPr>
        <p:spPr>
          <a:xfrm>
            <a:off x="5998464" y="1700784"/>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53912" y="1298448"/>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3.  learn-from-edits</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your own edits become rules for this draft</a:t>
            </a:r>
          </a:p>
        </p:txBody>
      </p:sp>
      <p:sp>
        <p:nvSpPr>
          <p:cNvPr id="10" name="Right Arrow 9"/>
          <p:cNvSpPr/>
          <p:nvPr/>
        </p:nvSpPr>
        <p:spPr>
          <a:xfrm>
            <a:off x="8823959" y="1700784"/>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79408" y="1298448"/>
            <a:ext cx="2651760" cy="987552"/>
          </a:xfrm>
          <a:prstGeom prst="roundRect">
            <a:avLst>
              <a:gd name="adj" fmla="val 6000"/>
            </a:avLst>
          </a:prstGeom>
          <a:solidFill>
            <a:srgbClr val="FFFFFF"/>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4.  draft-sections</a:t>
            </a:r>
          </a:p>
          <a:p>
            <a:pPr algn="l">
              <a:spcAft>
                <a:spcPts val="200"/>
              </a:spcAft>
            </a:pPr>
            <a:r>
              <a:rPr sz="800" b="1">
                <a:solidFill>
                  <a:srgbClr val="5B6570"/>
                </a:solidFill>
                <a:latin typeface="Segoe UI"/>
              </a:rPr>
              <a:t>Own Context</a:t>
            </a:r>
          </a:p>
          <a:p>
            <a:pPr algn="l">
              <a:spcAft>
                <a:spcPts val="200"/>
              </a:spcAft>
            </a:pPr>
            <a:r>
              <a:rPr sz="800" b="0">
                <a:solidFill>
                  <a:srgbClr val="1A1A1A"/>
                </a:solidFill>
                <a:latin typeface="Segoe UI"/>
              </a:rPr>
              <a:t>writes the body from the outline</a:t>
            </a:r>
          </a:p>
        </p:txBody>
      </p:sp>
      <p:sp>
        <p:nvSpPr>
          <p:cNvPr id="12" name="Rounded Rectangle 11"/>
          <p:cNvSpPr/>
          <p:nvPr/>
        </p:nvSpPr>
        <p:spPr>
          <a:xfrm>
            <a:off x="502920" y="2359152"/>
            <a:ext cx="2651760" cy="987552"/>
          </a:xfrm>
          <a:prstGeom prst="roundRect">
            <a:avLst>
              <a:gd name="adj" fmla="val 6000"/>
            </a:avLst>
          </a:prstGeom>
          <a:solidFill>
            <a:srgbClr val="FFF6E5"/>
          </a:solidFill>
          <a:ln w="12700">
            <a:solidFill>
              <a:srgbClr val="B3341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5.  abstract</a:t>
            </a:r>
          </a:p>
          <a:p>
            <a:pPr algn="l">
              <a:spcAft>
                <a:spcPts val="200"/>
              </a:spcAft>
            </a:pPr>
            <a:r>
              <a:rPr sz="800" b="1">
                <a:solidFill>
                  <a:srgbClr val="5B6570"/>
                </a:solidFill>
                <a:latin typeface="Segoe UI"/>
              </a:rPr>
              <a:t>BLIND</a:t>
            </a:r>
          </a:p>
          <a:p>
            <a:pPr algn="l">
              <a:spcAft>
                <a:spcPts val="200"/>
              </a:spcAft>
            </a:pPr>
            <a:r>
              <a:rPr sz="800" b="0">
                <a:solidFill>
                  <a:srgbClr val="1A1A1A"/>
                </a:solidFill>
                <a:latin typeface="Segoe UI"/>
              </a:rPr>
              <a:t>title and abstract, denied the README</a:t>
            </a:r>
          </a:p>
        </p:txBody>
      </p:sp>
      <p:sp>
        <p:nvSpPr>
          <p:cNvPr id="13" name="Right Arrow 12"/>
          <p:cNvSpPr/>
          <p:nvPr/>
        </p:nvSpPr>
        <p:spPr>
          <a:xfrm>
            <a:off x="3172968" y="2761488"/>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328415" y="2359152"/>
            <a:ext cx="2651760" cy="987552"/>
          </a:xfrm>
          <a:prstGeom prst="roundRect">
            <a:avLst>
              <a:gd name="adj" fmla="val 6000"/>
            </a:avLst>
          </a:prstGeom>
          <a:solidFill>
            <a:srgbClr val="FFF6E5"/>
          </a:solidFill>
          <a:ln w="12700">
            <a:solidFill>
              <a:srgbClr val="B3341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6.  revise-prose</a:t>
            </a:r>
          </a:p>
          <a:p>
            <a:pPr algn="l">
              <a:spcAft>
                <a:spcPts val="200"/>
              </a:spcAft>
            </a:pPr>
            <a:r>
              <a:rPr sz="800" b="1">
                <a:solidFill>
                  <a:srgbClr val="5B6570"/>
                </a:solidFill>
                <a:latin typeface="Segoe UI"/>
              </a:rPr>
              <a:t>BLIND</a:t>
            </a:r>
          </a:p>
          <a:p>
            <a:pPr algn="l">
              <a:spcAft>
                <a:spcPts val="200"/>
              </a:spcAft>
            </a:pPr>
            <a:r>
              <a:rPr sz="800" b="0">
                <a:solidFill>
                  <a:srgbClr val="1A1A1A"/>
                </a:solidFill>
                <a:latin typeface="Segoe UI"/>
              </a:rPr>
              <a:t>the house voice, denied every claim source</a:t>
            </a:r>
          </a:p>
        </p:txBody>
      </p:sp>
      <p:sp>
        <p:nvSpPr>
          <p:cNvPr id="15" name="Right Arrow 14"/>
          <p:cNvSpPr/>
          <p:nvPr/>
        </p:nvSpPr>
        <p:spPr>
          <a:xfrm>
            <a:off x="5998464" y="2761488"/>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153912" y="2359152"/>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7.  evidence-check</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every number traces to something recorded</a:t>
            </a:r>
          </a:p>
        </p:txBody>
      </p:sp>
      <p:sp>
        <p:nvSpPr>
          <p:cNvPr id="17" name="Right Arrow 16"/>
          <p:cNvSpPr/>
          <p:nvPr/>
        </p:nvSpPr>
        <p:spPr>
          <a:xfrm>
            <a:off x="8823959" y="2761488"/>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979408" y="2359152"/>
            <a:ext cx="2651760" cy="987552"/>
          </a:xfrm>
          <a:prstGeom prst="roundRect">
            <a:avLst>
              <a:gd name="adj" fmla="val 6000"/>
            </a:avLst>
          </a:prstGeom>
          <a:solidFill>
            <a:srgbClr val="FFF6E5"/>
          </a:solidFill>
          <a:ln w="12700">
            <a:solidFill>
              <a:srgbClr val="B3341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8.  stats-check</a:t>
            </a:r>
          </a:p>
          <a:p>
            <a:pPr algn="l">
              <a:spcAft>
                <a:spcPts val="200"/>
              </a:spcAft>
            </a:pPr>
            <a:r>
              <a:rPr sz="800" b="1">
                <a:solidFill>
                  <a:srgbClr val="5B6570"/>
                </a:solidFill>
                <a:latin typeface="Segoe UI"/>
              </a:rPr>
              <a:t>BLIND</a:t>
            </a:r>
          </a:p>
          <a:p>
            <a:pPr algn="l">
              <a:spcAft>
                <a:spcPts val="200"/>
              </a:spcAft>
            </a:pPr>
            <a:r>
              <a:rPr sz="800" b="0">
                <a:solidFill>
                  <a:srgbClr val="1A1A1A"/>
                </a:solidFill>
                <a:latin typeface="Segoe UI"/>
              </a:rPr>
              <a:t>denied the hypothesis, on purpose</a:t>
            </a:r>
          </a:p>
        </p:txBody>
      </p:sp>
      <p:sp>
        <p:nvSpPr>
          <p:cNvPr id="19" name="Rounded Rectangle 18"/>
          <p:cNvSpPr/>
          <p:nvPr/>
        </p:nvSpPr>
        <p:spPr>
          <a:xfrm>
            <a:off x="502920" y="3419856"/>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9.  assemble</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pandoc -&gt; the .docx, behind six gates</a:t>
            </a:r>
          </a:p>
        </p:txBody>
      </p:sp>
      <p:sp>
        <p:nvSpPr>
          <p:cNvPr id="20" name="Right Arrow 19"/>
          <p:cNvSpPr/>
          <p:nvPr/>
        </p:nvSpPr>
        <p:spPr>
          <a:xfrm>
            <a:off x="3172968" y="3822191"/>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328415" y="3419856"/>
            <a:ext cx="2651760" cy="987552"/>
          </a:xfrm>
          <a:prstGeom prst="roundRect">
            <a:avLst>
              <a:gd name="adj" fmla="val 6000"/>
            </a:avLst>
          </a:prstGeom>
          <a:solidFill>
            <a:srgbClr val="FFFFFF"/>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10.  citation-check</a:t>
            </a:r>
          </a:p>
          <a:p>
            <a:pPr algn="l">
              <a:spcAft>
                <a:spcPts val="200"/>
              </a:spcAft>
            </a:pPr>
            <a:r>
              <a:rPr sz="800" b="1">
                <a:solidFill>
                  <a:srgbClr val="5B6570"/>
                </a:solidFill>
                <a:latin typeface="Segoe UI"/>
              </a:rPr>
              <a:t>Own Context</a:t>
            </a:r>
          </a:p>
          <a:p>
            <a:pPr algn="l">
              <a:spcAft>
                <a:spcPts val="200"/>
              </a:spcAft>
            </a:pPr>
            <a:r>
              <a:rPr sz="800" b="0">
                <a:solidFill>
                  <a:srgbClr val="1A1A1A"/>
                </a:solidFill>
                <a:latin typeface="Segoe UI"/>
              </a:rPr>
              <a:t>every key resolves; never offered, it runs</a:t>
            </a:r>
          </a:p>
        </p:txBody>
      </p:sp>
      <p:sp>
        <p:nvSpPr>
          <p:cNvPr id="22" name="Right Arrow 21"/>
          <p:cNvSpPr/>
          <p:nvPr/>
        </p:nvSpPr>
        <p:spPr>
          <a:xfrm>
            <a:off x="5998464" y="3822191"/>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153912" y="3419856"/>
            <a:ext cx="2651760" cy="987552"/>
          </a:xfrm>
          <a:prstGeom prst="roundRect">
            <a:avLst>
              <a:gd name="adj" fmla="val 6000"/>
            </a:avLst>
          </a:prstGeom>
          <a:solidFill>
            <a:srgbClr val="FFF6E5"/>
          </a:solidFill>
          <a:ln w="12700">
            <a:solidFill>
              <a:srgbClr val="B3341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11.  reviewer-check</a:t>
            </a:r>
          </a:p>
          <a:p>
            <a:pPr algn="l">
              <a:spcAft>
                <a:spcPts val="200"/>
              </a:spcAft>
            </a:pPr>
            <a:r>
              <a:rPr sz="800" b="1">
                <a:solidFill>
                  <a:srgbClr val="5B6570"/>
                </a:solidFill>
                <a:latin typeface="Segoe UI"/>
              </a:rPr>
              <a:t>BLIND</a:t>
            </a:r>
          </a:p>
          <a:p>
            <a:pPr algn="l">
              <a:spcAft>
                <a:spcPts val="200"/>
              </a:spcAft>
            </a:pPr>
            <a:r>
              <a:rPr sz="800" b="0">
                <a:solidFill>
                  <a:srgbClr val="1A1A1A"/>
                </a:solidFill>
                <a:latin typeface="Segoe UI"/>
              </a:rPr>
              <a:t>reads the built paper as a reviewer would</a:t>
            </a:r>
          </a:p>
        </p:txBody>
      </p:sp>
      <p:sp>
        <p:nvSpPr>
          <p:cNvPr id="24" name="Right Arrow 23"/>
          <p:cNvSpPr/>
          <p:nvPr/>
        </p:nvSpPr>
        <p:spPr>
          <a:xfrm>
            <a:off x="8823959" y="3822191"/>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79408" y="3419856"/>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12.  final-check</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every report, resolved or waived</a:t>
            </a:r>
          </a:p>
        </p:txBody>
      </p:sp>
      <p:sp>
        <p:nvSpPr>
          <p:cNvPr id="26" name="Rounded Rectangle 25"/>
          <p:cNvSpPr/>
          <p:nvPr/>
        </p:nvSpPr>
        <p:spPr>
          <a:xfrm>
            <a:off x="502920" y="4480559"/>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13.  submission-package</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refuses while any FLAG remains</a:t>
            </a:r>
          </a:p>
        </p:txBody>
      </p:sp>
      <p:sp>
        <p:nvSpPr>
          <p:cNvPr id="27" name="Right Arrow 26"/>
          <p:cNvSpPr/>
          <p:nvPr/>
        </p:nvSpPr>
        <p:spPr>
          <a:xfrm>
            <a:off x="3172968" y="4882896"/>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328415" y="4480559"/>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14.  respond-to-reviewers</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one response per point, from the ledger</a:t>
            </a:r>
          </a:p>
        </p:txBody>
      </p:sp>
      <p:sp>
        <p:nvSpPr>
          <p:cNvPr id="29" name="Right Arrow 28"/>
          <p:cNvSpPr/>
          <p:nvPr/>
        </p:nvSpPr>
        <p:spPr>
          <a:xfrm>
            <a:off x="5998464" y="4882896"/>
            <a:ext cx="128016" cy="182880"/>
          </a:xfrm>
          <a:prstGeom prst="rightArrow">
            <a:avLst/>
          </a:prstGeom>
          <a:solidFill>
            <a:srgbClr val="6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153912" y="4480559"/>
            <a:ext cx="2651760" cy="987552"/>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1A1A1A"/>
                </a:solidFill>
                <a:latin typeface="Segoe UI"/>
              </a:rPr>
              <a:t>15.  toc-graphic</a:t>
            </a:r>
          </a:p>
          <a:p>
            <a:pPr algn="l">
              <a:spcAft>
                <a:spcPts val="200"/>
              </a:spcAft>
            </a:pPr>
            <a:r>
              <a:rPr sz="800" b="1">
                <a:solidFill>
                  <a:srgbClr val="5B6570"/>
                </a:solidFill>
                <a:latin typeface="Segoe UI"/>
              </a:rPr>
              <a:t>Engine Call</a:t>
            </a:r>
          </a:p>
          <a:p>
            <a:pPr algn="l">
              <a:spcAft>
                <a:spcPts val="200"/>
              </a:spcAft>
            </a:pPr>
            <a:r>
              <a:rPr sz="800" b="0">
                <a:solidFill>
                  <a:srgbClr val="1A1A1A"/>
                </a:solidFill>
                <a:latin typeface="Segoe UI"/>
              </a:rPr>
              <a:t>the graphical abstract, as a slide you draw</a:t>
            </a:r>
          </a:p>
        </p:txBody>
      </p:sp>
      <p:sp>
        <p:nvSpPr>
          <p:cNvPr id="31" name="Rounded Rectangle 30"/>
          <p:cNvSpPr/>
          <p:nvPr/>
        </p:nvSpPr>
        <p:spPr>
          <a:xfrm>
            <a:off x="502920" y="5614416"/>
            <a:ext cx="11155680" cy="96926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100" b="1">
                <a:solidFill>
                  <a:srgbClr val="B3341E"/>
                </a:solidFill>
                <a:latin typeface="Segoe UI"/>
              </a:rPr>
              <a:t>Seven Modules Are Spawned With Their Own Context. Four Of Those Are Blind.</a:t>
            </a:r>
          </a:p>
          <a:p>
            <a:pPr algn="l">
              <a:spcAft>
                <a:spcPts val="200"/>
              </a:spcAft>
            </a:pPr>
            <a:r>
              <a:rPr sz="800" b="0">
                <a:solidFill>
                  <a:srgbClr val="1A1A1A"/>
                </a:solidFill>
                <a:latin typeface="Segoe UI"/>
              </a:rPr>
              <a:t>A blind module is handed an explicit list of files and denied the hypothesis, the outline and plan/README.md. stats-check is the one that matters most: an agent that knows what you hoped to find reads an ambiguous result as favourable - and nothing visibly fails when that happens. The report still looks fine. It is just worthless. The plan line names every isolated and blind module before the round runs, because whether a module ran blind cannot be seen in its report afterwards.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Other Tools That Help</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Callable from a skill or straight from a terminal, in the middle of anything else</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353312"/>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AlphaFold, PDB And EMDB</a:t>
            </a:r>
          </a:p>
          <a:p>
            <a:pPr algn="l">
              <a:spcAft>
                <a:spcPts val="200"/>
              </a:spcAft>
            </a:pPr>
            <a:r>
              <a:rPr sz="800" b="1">
                <a:solidFill>
                  <a:srgbClr val="2E5E8E"/>
                </a:solidFill>
                <a:latin typeface="Segoe UI"/>
              </a:rPr>
              <a:t>structure.py alphafold | pdb | emdb | resolve</a:t>
            </a:r>
          </a:p>
          <a:p>
            <a:pPr algn="l">
              <a:spcAft>
                <a:spcPts val="200"/>
              </a:spcAft>
            </a:pPr>
            <a:r>
              <a:rPr sz="800" b="0">
                <a:solidFill>
                  <a:srgbClr val="1A1A1A"/>
                </a:solidFill>
                <a:latin typeface="Segoe UI"/>
              </a:rPr>
              <a:t>A predicted or measured structure, fetched and cited properly, ready to compose into a figure. It is never gap evidence - a structure existing does not mean the question has been asked.</a:t>
            </a:r>
          </a:p>
        </p:txBody>
      </p:sp>
      <p:sp>
        <p:nvSpPr>
          <p:cNvPr id="6" name="Rounded Rectangle 5"/>
          <p:cNvSpPr/>
          <p:nvPr/>
        </p:nvSpPr>
        <p:spPr>
          <a:xfrm>
            <a:off x="6373368" y="1353312"/>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The Graphical Abstract</a:t>
            </a:r>
          </a:p>
          <a:p>
            <a:pPr algn="l">
              <a:spcAft>
                <a:spcPts val="200"/>
              </a:spcAft>
            </a:pPr>
            <a:r>
              <a:rPr sz="800" b="1">
                <a:solidFill>
                  <a:srgbClr val="2E5E8E"/>
                </a:solidFill>
                <a:latin typeface="Segoe UI"/>
              </a:rPr>
              <a:t>toc-graphic  /  toc_graphic.py</a:t>
            </a:r>
          </a:p>
          <a:p>
            <a:pPr algn="l">
              <a:spcAft>
                <a:spcPts val="200"/>
              </a:spcAft>
            </a:pPr>
            <a:r>
              <a:rPr sz="800" b="0">
                <a:solidFill>
                  <a:srgbClr val="1A1A1A"/>
                </a:solidFill>
                <a:latin typeface="Segoe UI"/>
              </a:rPr>
              <a:t>Sized the journal's own way, as a slide you draw. It runs BEFORE assemble: the block it writes into source_text/ has to exist before the .docx is built, or the graphic is simply absent from the submission.</a:t>
            </a:r>
          </a:p>
        </p:txBody>
      </p:sp>
      <p:sp>
        <p:nvSpPr>
          <p:cNvPr id="7" name="Rounded Rectangle 6"/>
          <p:cNvSpPr/>
          <p:nvPr/>
        </p:nvSpPr>
        <p:spPr>
          <a:xfrm>
            <a:off x="502920" y="2560320"/>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Drawn Panels</a:t>
            </a:r>
          </a:p>
          <a:p>
            <a:pPr algn="l">
              <a:spcAft>
                <a:spcPts val="200"/>
              </a:spcAft>
            </a:pPr>
            <a:r>
              <a:rPr sz="800" b="1">
                <a:solidFill>
                  <a:srgbClr val="2E5E8E"/>
                </a:solidFill>
                <a:latin typeface="Segoe UI"/>
              </a:rPr>
              <a:t>create-graphic-figure  /  graphic_figure.py add --figure 2</a:t>
            </a:r>
          </a:p>
          <a:p>
            <a:pPr algn="l">
              <a:spcAft>
                <a:spcPts val="200"/>
              </a:spcAft>
            </a:pPr>
            <a:r>
              <a:rPr sz="800" b="0">
                <a:solidFill>
                  <a:srgbClr val="1A1A1A"/>
                </a:solidFill>
                <a:latin typeface="Segoe UI"/>
              </a:rPr>
              <a:t>A reaction scheme, an apparatus, a mechanism, a protein figure - drawn in PowerPoint and composed beside the plotted panels, so one figure can be half art and half chart and still render as one file.</a:t>
            </a:r>
          </a:p>
        </p:txBody>
      </p:sp>
      <p:sp>
        <p:nvSpPr>
          <p:cNvPr id="8" name="Rounded Rectangle 7"/>
          <p:cNvSpPr/>
          <p:nvPr/>
        </p:nvSpPr>
        <p:spPr>
          <a:xfrm>
            <a:off x="6373368" y="2560320"/>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Figure Surgery</a:t>
            </a:r>
          </a:p>
          <a:p>
            <a:pPr algn="l">
              <a:spcAft>
                <a:spcPts val="200"/>
              </a:spcAft>
            </a:pPr>
            <a:r>
              <a:rPr sz="800" b="1">
                <a:solidFill>
                  <a:srgbClr val="2E5E8E"/>
                </a:solidFill>
                <a:latin typeface="Segoe UI"/>
              </a:rPr>
              <a:t>refine-figure</a:t>
            </a:r>
          </a:p>
          <a:p>
            <a:pPr algn="l">
              <a:spcAft>
                <a:spcPts val="200"/>
              </a:spcAft>
            </a:pPr>
            <a:r>
              <a:rPr sz="800" b="0">
                <a:solidFill>
                  <a:srgbClr val="1A1A1A"/>
                </a:solidFill>
                <a:latin typeface="Segoe UI"/>
              </a:rPr>
              <a:t>For when the plot does not show the claim its caption asserts, or the axes are wrong, or the mock data does not exercise the hypothesis. Also lints the float scripts for the traps that render fine and lie.</a:t>
            </a:r>
          </a:p>
        </p:txBody>
      </p:sp>
      <p:sp>
        <p:nvSpPr>
          <p:cNvPr id="9" name="Rounded Rectangle 8"/>
          <p:cNvSpPr/>
          <p:nvPr/>
        </p:nvSpPr>
        <p:spPr>
          <a:xfrm>
            <a:off x="502920" y="3767328"/>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Literature</a:t>
            </a:r>
          </a:p>
          <a:p>
            <a:pPr algn="l">
              <a:spcAft>
                <a:spcPts val="200"/>
              </a:spcAft>
            </a:pPr>
            <a:r>
              <a:rPr sz="800" b="1">
                <a:solidFill>
                  <a:srgbClr val="2E5E8E"/>
                </a:solidFill>
                <a:latin typeface="Segoe UI"/>
              </a:rPr>
              <a:t>scholar.py search | verify | check-refs   ·   pubmed.py sections</a:t>
            </a:r>
          </a:p>
          <a:p>
            <a:pPr algn="l">
              <a:spcAft>
                <a:spcPts val="200"/>
              </a:spcAft>
            </a:pPr>
            <a:r>
              <a:rPr sz="800" b="0">
                <a:solidFill>
                  <a:srgbClr val="1A1A1A"/>
                </a:solidFill>
                <a:latin typeface="Segoe UI"/>
              </a:rPr>
              <a:t>Six indexes rather than one, because PubMed cannot see half of this group's field. pubmed.py sections &lt;PMID&gt; pulls the full text of an open-access paper when the abstract is not enough.</a:t>
            </a:r>
          </a:p>
        </p:txBody>
      </p:sp>
      <p:sp>
        <p:nvSpPr>
          <p:cNvPr id="10" name="Rounded Rectangle 9"/>
          <p:cNvSpPr/>
          <p:nvPr/>
        </p:nvSpPr>
        <p:spPr>
          <a:xfrm>
            <a:off x="6373368" y="3767328"/>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Flags</a:t>
            </a:r>
          </a:p>
          <a:p>
            <a:pPr algn="l">
              <a:spcAft>
                <a:spcPts val="200"/>
              </a:spcAft>
            </a:pPr>
            <a:r>
              <a:rPr sz="800" b="1">
                <a:solidFill>
                  <a:srgbClr val="2E5E8E"/>
                </a:solidFill>
                <a:latin typeface="Segoe UI"/>
              </a:rPr>
              <a:t>flag-resolver</a:t>
            </a:r>
          </a:p>
          <a:p>
            <a:pPr algn="l">
              <a:spcAft>
                <a:spcPts val="200"/>
              </a:spcAft>
            </a:pPr>
            <a:r>
              <a:rPr sz="800" b="0">
                <a:solidFill>
                  <a:srgbClr val="1A1A1A"/>
                </a:solidFill>
                <a:latin typeface="Segoe UI"/>
              </a:rPr>
              <a:t>Walks the outstanding [FLAG: ...] markers one at a time, explains what each is asking and why it blocks, and records what you decide so the next round applies it. Runs standalone, on any project, at any time.</a:t>
            </a:r>
          </a:p>
        </p:txBody>
      </p:sp>
      <p:sp>
        <p:nvSpPr>
          <p:cNvPr id="11" name="Rounded Rectangle 10"/>
          <p:cNvSpPr/>
          <p:nvPr/>
        </p:nvSpPr>
        <p:spPr>
          <a:xfrm>
            <a:off x="502920" y="4974336"/>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Coauthor Edits</a:t>
            </a:r>
          </a:p>
          <a:p>
            <a:pPr algn="l">
              <a:spcAft>
                <a:spcPts val="200"/>
              </a:spcAft>
            </a:pPr>
            <a:r>
              <a:rPr sz="800" b="1">
                <a:solidFill>
                  <a:srgbClr val="2E5E8E"/>
                </a:solidFill>
                <a:latin typeface="Segoe UI"/>
              </a:rPr>
              <a:t>docx_edits.py extract &lt;file&gt;</a:t>
            </a:r>
          </a:p>
          <a:p>
            <a:pPr algn="l">
              <a:spcAft>
                <a:spcPts val="200"/>
              </a:spcAft>
            </a:pPr>
            <a:r>
              <a:rPr sz="800" b="0">
                <a:solidFill>
                  <a:srgbClr val="1A1A1A"/>
                </a:solidFill>
                <a:latin typeface="Segoe UI"/>
              </a:rPr>
              <a:t>Who changed what, per author, out of a tracked-changes .docx - before any of it becomes a rule. This is the front half of the learning loop and it is worth running on its own.</a:t>
            </a:r>
          </a:p>
        </p:txBody>
      </p:sp>
      <p:sp>
        <p:nvSpPr>
          <p:cNvPr id="12" name="Rounded Rectangle 11"/>
          <p:cNvSpPr/>
          <p:nvPr/>
        </p:nvSpPr>
        <p:spPr>
          <a:xfrm>
            <a:off x="6373368" y="4974336"/>
            <a:ext cx="5669280" cy="1115568"/>
          </a:xfrm>
          <a:prstGeom prst="roundRect">
            <a:avLst>
              <a:gd name="adj" fmla="val 6000"/>
            </a:avLst>
          </a:prstGeom>
          <a:solidFill>
            <a:srgbClr val="FFFFFF"/>
          </a:solidFill>
          <a:ln w="12700">
            <a:solidFill>
              <a:srgbClr val="2E5E8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200" b="1">
                <a:solidFill>
                  <a:srgbClr val="1A1A1A"/>
                </a:solidFill>
                <a:latin typeface="Segoe UI"/>
              </a:rPr>
              <a:t>Defects</a:t>
            </a:r>
          </a:p>
          <a:p>
            <a:pPr algn="l">
              <a:spcAft>
                <a:spcPts val="200"/>
              </a:spcAft>
            </a:pPr>
            <a:r>
              <a:rPr sz="800" b="1">
                <a:solidFill>
                  <a:srgbClr val="2E5E8E"/>
                </a:solidFill>
                <a:latin typeface="Segoe UI"/>
              </a:rPr>
              <a:t>manuscript.py log-issue</a:t>
            </a:r>
          </a:p>
          <a:p>
            <a:pPr algn="l">
              <a:spcAft>
                <a:spcPts val="200"/>
              </a:spcAft>
            </a:pPr>
            <a:r>
              <a:rPr sz="800" b="0">
                <a:solidFill>
                  <a:srgbClr val="1A1A1A"/>
                </a:solidFill>
                <a:latin typeface="Segoe UI"/>
              </a:rPr>
              <a:t>The engine's own complaints about itself, carried upstream to whoever maintains the toolkit. Never your prose, never your project name, never your learned rules. Off until you configure it.</a:t>
            </a:r>
          </a:p>
        </p:txBody>
      </p:sp>
      <p:sp>
        <p:nvSpPr>
          <p:cNvPr id="13" name="TextBox 12"/>
          <p:cNvSpPr txBox="1"/>
          <p:nvPr/>
        </p:nvSpPr>
        <p:spPr>
          <a:xfrm>
            <a:off x="502920" y="6419088"/>
            <a:ext cx="11155680" cy="274320"/>
          </a:xfrm>
          <a:prstGeom prst="rect">
            <a:avLst/>
          </a:prstGeom>
          <a:noFill/>
        </p:spPr>
        <p:txBody>
          <a:bodyPr wrap="square" lIns="73152" rIns="73152">
            <a:spAutoFit/>
          </a:bodyPr>
          <a:lstStyle/>
          <a:p>
            <a:pPr algn="l">
              <a:spcAft>
                <a:spcPts val="200"/>
              </a:spcAft>
            </a:pPr>
            <a:r>
              <a:rPr sz="900" b="0">
                <a:solidFill>
                  <a:srgbClr val="5B6570"/>
                </a:solidFill>
                <a:latin typeface="Segoe UI"/>
              </a:rPr>
              <a:t>Each one takes --json, refuses rather than guessing, and needs nothing from the conversation.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You Do Not Have To Know The Names</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Say what you want; the right module gets offered - offered, never run</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98448"/>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“is there a gap here?”</a:t>
            </a:r>
          </a:p>
          <a:p>
            <a:pPr algn="l">
              <a:spcAft>
                <a:spcPts val="200"/>
              </a:spcAft>
            </a:pPr>
            <a:r>
              <a:rPr sz="900" b="0">
                <a:solidFill>
                  <a:srgbClr val="2E5E8E"/>
                </a:solidFill>
                <a:latin typeface="Segoe UI"/>
              </a:rPr>
              <a:t>-&gt;  idea-generation</a:t>
            </a:r>
          </a:p>
        </p:txBody>
      </p:sp>
      <p:sp>
        <p:nvSpPr>
          <p:cNvPr id="6" name="Rounded Rectangle 5"/>
          <p:cNvSpPr/>
          <p:nvPr/>
        </p:nvSpPr>
        <p:spPr>
          <a:xfrm>
            <a:off x="6217920" y="1298448"/>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“set up a folder for this paper”</a:t>
            </a:r>
          </a:p>
          <a:p>
            <a:pPr algn="l">
              <a:spcAft>
                <a:spcPts val="200"/>
              </a:spcAft>
            </a:pPr>
            <a:r>
              <a:rPr sz="900" b="0">
                <a:solidFill>
                  <a:srgbClr val="2E5E8E"/>
                </a:solidFill>
                <a:latin typeface="Segoe UI"/>
              </a:rPr>
              <a:t>-&gt;  setup-project-directory</a:t>
            </a:r>
          </a:p>
        </p:txBody>
      </p:sp>
      <p:sp>
        <p:nvSpPr>
          <p:cNvPr id="7" name="Rounded Rectangle 6"/>
          <p:cNvSpPr/>
          <p:nvPr/>
        </p:nvSpPr>
        <p:spPr>
          <a:xfrm>
            <a:off x="502920" y="1956815"/>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“I need a protein figure”</a:t>
            </a:r>
          </a:p>
          <a:p>
            <a:pPr algn="l">
              <a:spcAft>
                <a:spcPts val="200"/>
              </a:spcAft>
            </a:pPr>
            <a:r>
              <a:rPr sz="900" b="0">
                <a:solidFill>
                  <a:srgbClr val="2E5E8E"/>
                </a:solidFill>
                <a:latin typeface="Segoe UI"/>
              </a:rPr>
              <a:t>-&gt;  create-graphic-figure  (+ structure.py)</a:t>
            </a:r>
          </a:p>
        </p:txBody>
      </p:sp>
      <p:sp>
        <p:nvSpPr>
          <p:cNvPr id="8" name="Rounded Rectangle 7"/>
          <p:cNvSpPr/>
          <p:nvPr/>
        </p:nvSpPr>
        <p:spPr>
          <a:xfrm>
            <a:off x="6217920" y="1956815"/>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“is anything missing from my folder?”</a:t>
            </a:r>
          </a:p>
          <a:p>
            <a:pPr algn="l">
              <a:spcAft>
                <a:spcPts val="200"/>
              </a:spcAft>
            </a:pPr>
            <a:r>
              <a:rPr sz="900" b="0">
                <a:solidFill>
                  <a:srgbClr val="2E5E8E"/>
                </a:solidFill>
                <a:latin typeface="Segoe UI"/>
              </a:rPr>
              <a:t>-&gt;  scaffold.py check</a:t>
            </a:r>
          </a:p>
        </p:txBody>
      </p:sp>
      <p:sp>
        <p:nvSpPr>
          <p:cNvPr id="9" name="Rounded Rectangle 8"/>
          <p:cNvSpPr/>
          <p:nvPr/>
        </p:nvSpPr>
        <p:spPr>
          <a:xfrm>
            <a:off x="502920" y="2615184"/>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“fake data so I can test a figure”</a:t>
            </a:r>
          </a:p>
          <a:p>
            <a:pPr algn="l">
              <a:spcAft>
                <a:spcPts val="200"/>
              </a:spcAft>
            </a:pPr>
            <a:r>
              <a:rPr sz="900" b="0">
                <a:solidFill>
                  <a:srgbClr val="2E5E8E"/>
                </a:solidFill>
                <a:latin typeface="Segoe UI"/>
              </a:rPr>
              <a:t>-&gt;  idea.py mock</a:t>
            </a:r>
          </a:p>
        </p:txBody>
      </p:sp>
      <p:sp>
        <p:nvSpPr>
          <p:cNvPr id="10" name="Rounded Rectangle 9"/>
          <p:cNvSpPr/>
          <p:nvPr/>
        </p:nvSpPr>
        <p:spPr>
          <a:xfrm>
            <a:off x="6217920" y="2615184"/>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“is this citation real?”</a:t>
            </a:r>
          </a:p>
          <a:p>
            <a:pPr algn="l">
              <a:spcAft>
                <a:spcPts val="200"/>
              </a:spcAft>
            </a:pPr>
            <a:r>
              <a:rPr sz="900" b="0">
                <a:solidFill>
                  <a:srgbClr val="2E5E8E"/>
                </a:solidFill>
                <a:latin typeface="Segoe UI"/>
              </a:rPr>
              <a:t>-&gt;  scholar.py verify</a:t>
            </a:r>
          </a:p>
        </p:txBody>
      </p:sp>
      <p:sp>
        <p:nvSpPr>
          <p:cNvPr id="11" name="Rounded Rectangle 10"/>
          <p:cNvSpPr/>
          <p:nvPr/>
        </p:nvSpPr>
        <p:spPr>
          <a:xfrm>
            <a:off x="502920" y="3273552"/>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“draft the introduction”</a:t>
            </a:r>
          </a:p>
          <a:p>
            <a:pPr algn="l">
              <a:spcAft>
                <a:spcPts val="200"/>
              </a:spcAft>
            </a:pPr>
            <a:r>
              <a:rPr sz="900" b="0">
                <a:solidFill>
                  <a:srgbClr val="2E5E8E"/>
                </a:solidFill>
                <a:latin typeface="Segoe UI"/>
              </a:rPr>
              <a:t>-&gt;  writing-engine, scoped</a:t>
            </a:r>
          </a:p>
        </p:txBody>
      </p:sp>
      <p:sp>
        <p:nvSpPr>
          <p:cNvPr id="12" name="Rounded Rectangle 11"/>
          <p:cNvSpPr/>
          <p:nvPr/>
        </p:nvSpPr>
        <p:spPr>
          <a:xfrm>
            <a:off x="6217920" y="3273552"/>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“format this for Langmuir”</a:t>
            </a:r>
          </a:p>
          <a:p>
            <a:pPr algn="l">
              <a:spcAft>
                <a:spcPts val="200"/>
              </a:spcAft>
            </a:pPr>
            <a:r>
              <a:rPr sz="900" b="0">
                <a:solidFill>
                  <a:srgbClr val="2E5E8E"/>
                </a:solidFill>
                <a:latin typeface="Segoe UI"/>
              </a:rPr>
              <a:t>-&gt;  writing-engine + format-check</a:t>
            </a:r>
          </a:p>
        </p:txBody>
      </p:sp>
      <p:sp>
        <p:nvSpPr>
          <p:cNvPr id="13" name="Rounded Rectangle 12"/>
          <p:cNvSpPr/>
          <p:nvPr/>
        </p:nvSpPr>
        <p:spPr>
          <a:xfrm>
            <a:off x="502920" y="3931920"/>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“my coauthor sent edits”</a:t>
            </a:r>
          </a:p>
          <a:p>
            <a:pPr algn="l">
              <a:spcAft>
                <a:spcPts val="200"/>
              </a:spcAft>
            </a:pPr>
            <a:r>
              <a:rPr sz="900" b="0">
                <a:solidFill>
                  <a:srgbClr val="2E5E8E"/>
                </a:solidFill>
                <a:latin typeface="Segoe UI"/>
              </a:rPr>
              <a:t>-&gt;  docx_edits.py -&gt; ingest</a:t>
            </a:r>
          </a:p>
        </p:txBody>
      </p:sp>
      <p:sp>
        <p:nvSpPr>
          <p:cNvPr id="14" name="Rounded Rectangle 13"/>
          <p:cNvSpPr/>
          <p:nvPr/>
        </p:nvSpPr>
        <p:spPr>
          <a:xfrm>
            <a:off x="6217920" y="3931920"/>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“is this ready to submit?”</a:t>
            </a:r>
          </a:p>
          <a:p>
            <a:pPr algn="l">
              <a:spcAft>
                <a:spcPts val="200"/>
              </a:spcAft>
            </a:pPr>
            <a:r>
              <a:rPr sz="900" b="0">
                <a:solidFill>
                  <a:srgbClr val="2E5E8E"/>
                </a:solidFill>
                <a:latin typeface="Segoe UI"/>
              </a:rPr>
              <a:t>-&gt;  submission-package</a:t>
            </a:r>
          </a:p>
        </p:txBody>
      </p:sp>
      <p:sp>
        <p:nvSpPr>
          <p:cNvPr id="15" name="Rounded Rectangle 14"/>
          <p:cNvSpPr/>
          <p:nvPr/>
        </p:nvSpPr>
        <p:spPr>
          <a:xfrm>
            <a:off x="502920" y="4590288"/>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“this figure is ugly / wrong”</a:t>
            </a:r>
          </a:p>
          <a:p>
            <a:pPr algn="l">
              <a:spcAft>
                <a:spcPts val="200"/>
              </a:spcAft>
            </a:pPr>
            <a:r>
              <a:rPr sz="900" b="0">
                <a:solidFill>
                  <a:srgbClr val="2E5E8E"/>
                </a:solidFill>
                <a:latin typeface="Segoe UI"/>
              </a:rPr>
              <a:t>-&gt;  refine-figure</a:t>
            </a:r>
          </a:p>
        </p:txBody>
      </p:sp>
      <p:sp>
        <p:nvSpPr>
          <p:cNvPr id="16" name="Rounded Rectangle 15"/>
          <p:cNvSpPr/>
          <p:nvPr/>
        </p:nvSpPr>
        <p:spPr>
          <a:xfrm>
            <a:off x="6217920" y="4590288"/>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“what does AlphaFold have?”</a:t>
            </a:r>
          </a:p>
          <a:p>
            <a:pPr algn="l">
              <a:spcAft>
                <a:spcPts val="200"/>
              </a:spcAft>
            </a:pPr>
            <a:r>
              <a:rPr sz="900" b="0">
                <a:solidFill>
                  <a:srgbClr val="2E5E8E"/>
                </a:solidFill>
                <a:latin typeface="Segoe UI"/>
              </a:rPr>
              <a:t>-&gt;  structure.py  (never gap evidence)</a:t>
            </a:r>
          </a:p>
        </p:txBody>
      </p:sp>
      <p:sp>
        <p:nvSpPr>
          <p:cNvPr id="17" name="Rounded Rectangle 16"/>
          <p:cNvSpPr/>
          <p:nvPr/>
        </p:nvSpPr>
        <p:spPr>
          <a:xfrm>
            <a:off x="502920" y="5248656"/>
            <a:ext cx="5532120" cy="603504"/>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“the engine did something wrong”</a:t>
            </a:r>
          </a:p>
          <a:p>
            <a:pPr algn="l">
              <a:spcAft>
                <a:spcPts val="200"/>
              </a:spcAft>
            </a:pPr>
            <a:r>
              <a:rPr sz="900" b="0">
                <a:solidFill>
                  <a:srgbClr val="2E5E8E"/>
                </a:solidFill>
                <a:latin typeface="Segoe UI"/>
              </a:rPr>
              <a:t>-&gt;  manuscript.py log-issue</a:t>
            </a:r>
          </a:p>
        </p:txBody>
      </p:sp>
      <p:sp>
        <p:nvSpPr>
          <p:cNvPr id="18" name="Rounded Rectangle 17"/>
          <p:cNvSpPr/>
          <p:nvPr/>
        </p:nvSpPr>
        <p:spPr>
          <a:xfrm>
            <a:off x="502920" y="5961888"/>
            <a:ext cx="11155680" cy="621792"/>
          </a:xfrm>
          <a:prstGeom prst="roundRect">
            <a:avLst>
              <a:gd name="adj" fmla="val 6000"/>
            </a:avLst>
          </a:prstGeom>
          <a:solidFill>
            <a:srgbClr val="F2EDF7"/>
          </a:solidFill>
          <a:ln w="12700">
            <a:solidFill>
              <a:srgbClr val="6A4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1000" b="1">
                <a:solidFill>
                  <a:srgbClr val="1A1A1A"/>
                </a:solidFill>
                <a:latin typeface="Segoe UI"/>
              </a:rPr>
              <a:t>Two Rules Keep This From Being Annoying</a:t>
            </a:r>
          </a:p>
          <a:p>
            <a:pPr algn="l">
              <a:spcAft>
                <a:spcPts val="200"/>
              </a:spcAft>
            </a:pPr>
            <a:r>
              <a:rPr sz="900" b="0">
                <a:solidFill>
                  <a:srgbClr val="1A1A1A"/>
                </a:solidFill>
                <a:latin typeface="Segoe UI"/>
              </a:rPr>
              <a:t>A cue names the module and asks - it never fires a skill off a passing mention. And one skill owns the turn: if you ask for two things, it says so and starts with the one that has to happen first.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457200"/>
          </a:xfrm>
          <a:prstGeom prst="rect">
            <a:avLst/>
          </a:prstGeom>
          <a:noFill/>
        </p:spPr>
        <p:txBody>
          <a:bodyPr wrap="square" lIns="73152" rIns="73152">
            <a:spAutoFit/>
          </a:bodyPr>
          <a:lstStyle/>
          <a:p>
            <a:pPr algn="l">
              <a:spcAft>
                <a:spcPts val="200"/>
              </a:spcAft>
            </a:pPr>
            <a:r>
              <a:rPr sz="2600" b="1">
                <a:solidFill>
                  <a:srgbClr val="1A1A1A"/>
                </a:solidFill>
                <a:latin typeface="Segoe UI"/>
              </a:rPr>
              <a:t>Everything Is Callable On Its Own</a:t>
            </a:r>
          </a:p>
        </p:txBody>
      </p:sp>
      <p:sp>
        <p:nvSpPr>
          <p:cNvPr id="3" name="TextBox 2"/>
          <p:cNvSpPr txBox="1"/>
          <p:nvPr/>
        </p:nvSpPr>
        <p:spPr>
          <a:xfrm>
            <a:off x="530352" y="731520"/>
            <a:ext cx="11155680" cy="320040"/>
          </a:xfrm>
          <a:prstGeom prst="rect">
            <a:avLst/>
          </a:prstGeom>
          <a:noFill/>
        </p:spPr>
        <p:txBody>
          <a:bodyPr wrap="square" lIns="73152" rIns="73152">
            <a:spAutoFit/>
          </a:bodyPr>
          <a:lstStyle/>
          <a:p>
            <a:pPr algn="l">
              <a:spcAft>
                <a:spcPts val="200"/>
              </a:spcAft>
            </a:pPr>
            <a:r>
              <a:rPr sz="1200" b="0">
                <a:solidFill>
                  <a:srgbClr val="5B6570"/>
                </a:solidFill>
                <a:latin typeface="Segoe UI"/>
              </a:rPr>
              <a:t>The skills are convenience; these run from a terminal with no agent at all</a:t>
            </a:r>
          </a:p>
        </p:txBody>
      </p:sp>
      <p:sp>
        <p:nvSpPr>
          <p:cNvPr id="4" name="Rectangle 3"/>
          <p:cNvSpPr/>
          <p:nvPr/>
        </p:nvSpPr>
        <p:spPr>
          <a:xfrm>
            <a:off x="502920" y="1078992"/>
            <a:ext cx="11155680" cy="9525"/>
          </a:xfrm>
          <a:prstGeom prst="rect">
            <a:avLst/>
          </a:prstGeom>
          <a:solidFill>
            <a:srgbClr val="C7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80160"/>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Scaffold A Project</a:t>
            </a:r>
          </a:p>
        </p:txBody>
      </p:sp>
      <p:sp>
        <p:nvSpPr>
          <p:cNvPr id="6" name="Rounded Rectangle 5"/>
          <p:cNvSpPr/>
          <p:nvPr/>
        </p:nvSpPr>
        <p:spPr>
          <a:xfrm>
            <a:off x="4800600" y="1280160"/>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tools/scaffold.py scaffold &lt;path&gt;</a:t>
            </a:r>
          </a:p>
        </p:txBody>
      </p:sp>
      <p:sp>
        <p:nvSpPr>
          <p:cNvPr id="7" name="Rounded Rectangle 6"/>
          <p:cNvSpPr/>
          <p:nvPr/>
        </p:nvSpPr>
        <p:spPr>
          <a:xfrm>
            <a:off x="502920" y="1563624"/>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Check One For Missing Pieces</a:t>
            </a:r>
          </a:p>
        </p:txBody>
      </p:sp>
      <p:sp>
        <p:nvSpPr>
          <p:cNvPr id="8" name="Rounded Rectangle 7"/>
          <p:cNvSpPr/>
          <p:nvPr/>
        </p:nvSpPr>
        <p:spPr>
          <a:xfrm>
            <a:off x="4800600" y="1563624"/>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tools/scaffold.py check &lt;path&gt;</a:t>
            </a:r>
          </a:p>
        </p:txBody>
      </p:sp>
      <p:sp>
        <p:nvSpPr>
          <p:cNvPr id="9" name="Rounded Rectangle 8"/>
          <p:cNvSpPr/>
          <p:nvPr/>
        </p:nvSpPr>
        <p:spPr>
          <a:xfrm>
            <a:off x="502920" y="1847088"/>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Mock Data / Mock Floats</a:t>
            </a:r>
          </a:p>
        </p:txBody>
      </p:sp>
      <p:sp>
        <p:nvSpPr>
          <p:cNvPr id="10" name="Rounded Rectangle 9"/>
          <p:cNvSpPr/>
          <p:nvPr/>
        </p:nvSpPr>
        <p:spPr>
          <a:xfrm>
            <a:off x="4800600" y="1847088"/>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tools/idea.py mock  /  scaffold.py mock-floats</a:t>
            </a:r>
          </a:p>
        </p:txBody>
      </p:sp>
      <p:sp>
        <p:nvSpPr>
          <p:cNvPr id="11" name="Rounded Rectangle 10"/>
          <p:cNvSpPr/>
          <p:nvPr/>
        </p:nvSpPr>
        <p:spPr>
          <a:xfrm>
            <a:off x="502920" y="2130552"/>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Search Or Verify Literature</a:t>
            </a:r>
          </a:p>
        </p:txBody>
      </p:sp>
      <p:sp>
        <p:nvSpPr>
          <p:cNvPr id="12" name="Rounded Rectangle 11"/>
          <p:cNvSpPr/>
          <p:nvPr/>
        </p:nvSpPr>
        <p:spPr>
          <a:xfrm>
            <a:off x="4800600" y="2130552"/>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tools/scholar.py search / verify / check-refs</a:t>
            </a:r>
          </a:p>
        </p:txBody>
      </p:sp>
      <p:sp>
        <p:nvSpPr>
          <p:cNvPr id="13" name="Rounded Rectangle 12"/>
          <p:cNvSpPr/>
          <p:nvPr/>
        </p:nvSpPr>
        <p:spPr>
          <a:xfrm>
            <a:off x="502920" y="2414015"/>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Full Text Of An Open-Access Paper</a:t>
            </a:r>
          </a:p>
        </p:txBody>
      </p:sp>
      <p:sp>
        <p:nvSpPr>
          <p:cNvPr id="14" name="Rounded Rectangle 13"/>
          <p:cNvSpPr/>
          <p:nvPr/>
        </p:nvSpPr>
        <p:spPr>
          <a:xfrm>
            <a:off x="4800600" y="2414015"/>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tools/pubmed.py sections &lt;PMID&gt;</a:t>
            </a:r>
          </a:p>
        </p:txBody>
      </p:sp>
      <p:sp>
        <p:nvSpPr>
          <p:cNvPr id="15" name="Rounded Rectangle 14"/>
          <p:cNvSpPr/>
          <p:nvPr/>
        </p:nvSpPr>
        <p:spPr>
          <a:xfrm>
            <a:off x="502920" y="2697480"/>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Art Panel For A Figure</a:t>
            </a:r>
          </a:p>
        </p:txBody>
      </p:sp>
      <p:sp>
        <p:nvSpPr>
          <p:cNvPr id="16" name="Rounded Rectangle 15"/>
          <p:cNvSpPr/>
          <p:nvPr/>
        </p:nvSpPr>
        <p:spPr>
          <a:xfrm>
            <a:off x="4800600" y="2697480"/>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tools/graphic_figure.py add --figure 2</a:t>
            </a:r>
          </a:p>
        </p:txBody>
      </p:sp>
      <p:sp>
        <p:nvSpPr>
          <p:cNvPr id="17" name="Rounded Rectangle 16"/>
          <p:cNvSpPr/>
          <p:nvPr/>
        </p:nvSpPr>
        <p:spPr>
          <a:xfrm>
            <a:off x="502920" y="2980944"/>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Who Changed What In A .docx</a:t>
            </a:r>
          </a:p>
        </p:txBody>
      </p:sp>
      <p:sp>
        <p:nvSpPr>
          <p:cNvPr id="18" name="Rounded Rectangle 17"/>
          <p:cNvSpPr/>
          <p:nvPr/>
        </p:nvSpPr>
        <p:spPr>
          <a:xfrm>
            <a:off x="4800600" y="2980944"/>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tools/docx_edits.py extract &lt;file&gt;</a:t>
            </a:r>
          </a:p>
        </p:txBody>
      </p:sp>
      <p:sp>
        <p:nvSpPr>
          <p:cNvPr id="19" name="Rounded Rectangle 18"/>
          <p:cNvSpPr/>
          <p:nvPr/>
        </p:nvSpPr>
        <p:spPr>
          <a:xfrm>
            <a:off x="502920" y="3264408"/>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Build The Manuscript</a:t>
            </a:r>
          </a:p>
        </p:txBody>
      </p:sp>
      <p:sp>
        <p:nvSpPr>
          <p:cNvPr id="20" name="Rounded Rectangle 19"/>
          <p:cNvSpPr/>
          <p:nvPr/>
        </p:nvSpPr>
        <p:spPr>
          <a:xfrm>
            <a:off x="4800600" y="3264408"/>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tools/manuscript.py assemble &lt;path&gt; --journal X</a:t>
            </a:r>
          </a:p>
        </p:txBody>
      </p:sp>
      <p:sp>
        <p:nvSpPr>
          <p:cNvPr id="21" name="Rounded Rectangle 20"/>
          <p:cNvSpPr/>
          <p:nvPr/>
        </p:nvSpPr>
        <p:spPr>
          <a:xfrm>
            <a:off x="502920" y="3547872"/>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What Is Still Missing</a:t>
            </a:r>
          </a:p>
        </p:txBody>
      </p:sp>
      <p:sp>
        <p:nvSpPr>
          <p:cNvPr id="22" name="Rounded Rectangle 21"/>
          <p:cNvSpPr/>
          <p:nvPr/>
        </p:nvSpPr>
        <p:spPr>
          <a:xfrm>
            <a:off x="4800600" y="3547872"/>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tools/manuscript.py completeness &lt;path&gt;</a:t>
            </a:r>
          </a:p>
        </p:txBody>
      </p:sp>
      <p:sp>
        <p:nvSpPr>
          <p:cNvPr id="23" name="Rounded Rectangle 22"/>
          <p:cNvSpPr/>
          <p:nvPr/>
        </p:nvSpPr>
        <p:spPr>
          <a:xfrm>
            <a:off x="502920" y="3831335"/>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Number Density / Callouts / Length</a:t>
            </a:r>
          </a:p>
        </p:txBody>
      </p:sp>
      <p:sp>
        <p:nvSpPr>
          <p:cNvPr id="24" name="Rounded Rectangle 23"/>
          <p:cNvSpPr/>
          <p:nvPr/>
        </p:nvSpPr>
        <p:spPr>
          <a:xfrm>
            <a:off x="4800600" y="3831335"/>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tools/prose.py density / crossrefs / length</a:t>
            </a:r>
          </a:p>
        </p:txBody>
      </p:sp>
      <p:sp>
        <p:nvSpPr>
          <p:cNvPr id="25" name="Rounded Rectangle 24"/>
          <p:cNvSpPr/>
          <p:nvPr/>
        </p:nvSpPr>
        <p:spPr>
          <a:xfrm>
            <a:off x="502920" y="4114800"/>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What It Has Learned From You</a:t>
            </a:r>
          </a:p>
        </p:txBody>
      </p:sp>
      <p:sp>
        <p:nvSpPr>
          <p:cNvPr id="26" name="Rounded Rectangle 25"/>
          <p:cNvSpPr/>
          <p:nvPr/>
        </p:nvSpPr>
        <p:spPr>
          <a:xfrm>
            <a:off x="4800600" y="4114800"/>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tools/learn.py brief</a:t>
            </a:r>
          </a:p>
        </p:txBody>
      </p:sp>
      <p:sp>
        <p:nvSpPr>
          <p:cNvPr id="27" name="Rounded Rectangle 26"/>
          <p:cNvSpPr/>
          <p:nvPr/>
        </p:nvSpPr>
        <p:spPr>
          <a:xfrm>
            <a:off x="502920" y="4398264"/>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Lint The Float Scripts</a:t>
            </a:r>
          </a:p>
        </p:txBody>
      </p:sp>
      <p:sp>
        <p:nvSpPr>
          <p:cNvPr id="28" name="Rounded Rectangle 27"/>
          <p:cNvSpPr/>
          <p:nvPr/>
        </p:nvSpPr>
        <p:spPr>
          <a:xfrm>
            <a:off x="4800600" y="4398264"/>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tools/scaffold.py float lint &lt;path&gt;</a:t>
            </a:r>
          </a:p>
        </p:txBody>
      </p:sp>
      <p:sp>
        <p:nvSpPr>
          <p:cNvPr id="29" name="Rounded Rectangle 28"/>
          <p:cNvSpPr/>
          <p:nvPr/>
        </p:nvSpPr>
        <p:spPr>
          <a:xfrm>
            <a:off x="502920" y="4681727"/>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Prefill Instrument Settings</a:t>
            </a:r>
          </a:p>
        </p:txBody>
      </p:sp>
      <p:sp>
        <p:nvSpPr>
          <p:cNvPr id="30" name="Rounded Rectangle 29"/>
          <p:cNvSpPr/>
          <p:nvPr/>
        </p:nvSpPr>
        <p:spPr>
          <a:xfrm>
            <a:off x="4800600" y="4681727"/>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tools/scaffold.py prefill &lt;path&gt;</a:t>
            </a:r>
          </a:p>
        </p:txBody>
      </p:sp>
      <p:sp>
        <p:nvSpPr>
          <p:cNvPr id="31" name="Rounded Rectangle 30"/>
          <p:cNvSpPr/>
          <p:nvPr/>
        </p:nvSpPr>
        <p:spPr>
          <a:xfrm>
            <a:off x="502920" y="4965192"/>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Read The Settings Off The Images</a:t>
            </a:r>
          </a:p>
        </p:txBody>
      </p:sp>
      <p:sp>
        <p:nvSpPr>
          <p:cNvPr id="32" name="Rounded Rectangle 31"/>
          <p:cNvSpPr/>
          <p:nvPr/>
        </p:nvSpPr>
        <p:spPr>
          <a:xfrm>
            <a:off x="4800600" y="4965192"/>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tools/scaffold.py harvest &lt;path&gt;</a:t>
            </a:r>
          </a:p>
        </p:txBody>
      </p:sp>
      <p:sp>
        <p:nvSpPr>
          <p:cNvPr id="33" name="Rounded Rectangle 32"/>
          <p:cNvSpPr/>
          <p:nvPr/>
        </p:nvSpPr>
        <p:spPr>
          <a:xfrm>
            <a:off x="502920" y="5248656"/>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Merge An Idea Into A Project</a:t>
            </a:r>
          </a:p>
        </p:txBody>
      </p:sp>
      <p:sp>
        <p:nvSpPr>
          <p:cNvPr id="34" name="Rounded Rectangle 33"/>
          <p:cNvSpPr/>
          <p:nvPr/>
        </p:nvSpPr>
        <p:spPr>
          <a:xfrm>
            <a:off x="4800600" y="5248656"/>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tools/idea.py merge &lt;path&gt; --bundle b.json</a:t>
            </a:r>
          </a:p>
        </p:txBody>
      </p:sp>
      <p:sp>
        <p:nvSpPr>
          <p:cNvPr id="35" name="Rounded Rectangle 34"/>
          <p:cNvSpPr/>
          <p:nvPr/>
        </p:nvSpPr>
        <p:spPr>
          <a:xfrm>
            <a:off x="502920" y="5532120"/>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A Predicted Or Measured Structure</a:t>
            </a:r>
          </a:p>
        </p:txBody>
      </p:sp>
      <p:sp>
        <p:nvSpPr>
          <p:cNvPr id="36" name="Rounded Rectangle 35"/>
          <p:cNvSpPr/>
          <p:nvPr/>
        </p:nvSpPr>
        <p:spPr>
          <a:xfrm>
            <a:off x="4800600" y="5532120"/>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tools/structure.py alphafold / pdb / emdb</a:t>
            </a:r>
          </a:p>
        </p:txBody>
      </p:sp>
      <p:sp>
        <p:nvSpPr>
          <p:cNvPr id="37" name="Rounded Rectangle 36"/>
          <p:cNvSpPr/>
          <p:nvPr/>
        </p:nvSpPr>
        <p:spPr>
          <a:xfrm>
            <a:off x="502920" y="5815583"/>
            <a:ext cx="4206240" cy="265176"/>
          </a:xfrm>
          <a:prstGeom prst="roundRect">
            <a:avLst>
              <a:gd name="adj" fmla="val 6000"/>
            </a:avLst>
          </a:prstGeom>
          <a:solidFill>
            <a:srgbClr val="FFFFFF"/>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The AI-Use Declaration</a:t>
            </a:r>
          </a:p>
        </p:txBody>
      </p:sp>
      <p:sp>
        <p:nvSpPr>
          <p:cNvPr id="38" name="Rounded Rectangle 37"/>
          <p:cNvSpPr/>
          <p:nvPr/>
        </p:nvSpPr>
        <p:spPr>
          <a:xfrm>
            <a:off x="4800600" y="5815583"/>
            <a:ext cx="6858000" cy="265176"/>
          </a:xfrm>
          <a:prstGeom prst="roundRect">
            <a:avLst>
              <a:gd name="adj" fmla="val 6000"/>
            </a:avLst>
          </a:prstGeom>
          <a:solidFill>
            <a:srgbClr val="F1F3F5"/>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python tools/manuscript.py ai-disclosure &lt;path&gt;</a:t>
            </a:r>
          </a:p>
        </p:txBody>
      </p:sp>
      <p:sp>
        <p:nvSpPr>
          <p:cNvPr id="39" name="Rounded Rectangle 38"/>
          <p:cNvSpPr/>
          <p:nvPr/>
        </p:nvSpPr>
        <p:spPr>
          <a:xfrm>
            <a:off x="502920" y="6217920"/>
            <a:ext cx="11155680" cy="411480"/>
          </a:xfrm>
          <a:prstGeom prst="roundRect">
            <a:avLst>
              <a:gd name="adj" fmla="val 6000"/>
            </a:avLst>
          </a:prstGeom>
          <a:solidFill>
            <a:srgbClr val="EAF2EA"/>
          </a:solidFill>
          <a:ln w="12700">
            <a:solidFill>
              <a:srgbClr val="3D6B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spcAft>
                <a:spcPts val="200"/>
              </a:spcAft>
            </a:pPr>
            <a:r>
              <a:rPr sz="900" b="0">
                <a:solidFill>
                  <a:srgbClr val="1A1A1A"/>
                </a:solidFill>
                <a:latin typeface="Segoe UI"/>
              </a:rPr>
              <a:t>Each one takes --json, refuses rather than guessing, and needs nothing from the conversation. That is what makes it safe to call one in the middle of something else.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3022</Words>
  <Application>Microsoft Office PowerPoint</Application>
  <PresentationFormat>Widescreen</PresentationFormat>
  <Paragraphs>283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Russell Mercer</cp:lastModifiedBy>
  <cp:revision>1</cp:revision>
  <dcterms:created xsi:type="dcterms:W3CDTF">2013-01-27T09:14:16Z</dcterms:created>
  <dcterms:modified xsi:type="dcterms:W3CDTF">2026-09-09T03:44:36Z</dcterms:modified>
  <cp:category/>
</cp:coreProperties>
</file>